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72d333b-6c10-a56d-81d3-b82f70a53095}">
          <p14:sldIdLst>
            <p14:sldId id="256"/>
            <p14:sldId id="257"/>
            <p14:sldId id="258"/>
            <p14:sldId id="259"/>
          </p14:sldIdLst>
        </p14:section>
        <p14:section name="Design" id="{11838fba-2c3c-cbe9-98ef-8a30c998b731}">
          <p14:sldIdLst>
            <p14:sldId id="260"/>
            <p14:sldId id="261"/>
            <p14:sldId id="262"/>
            <p14:sldId id="263"/>
            <p14:sldId id="264"/>
          </p14:sldIdLst>
        </p14:section>
        <p14:section name="Implementation" id="{ff49369c-137f-8199-8edf-8bcf4d8eb434}">
          <p14:sldIdLst>
            <p14:sldId id="265"/>
            <p14:sldId id="266"/>
            <p14:sldId id="267"/>
            <p14:sldId id="268"/>
          </p14:sldIdLst>
        </p14:section>
        <p14:section name="Evaluation" id="{8234f567-0324-b62a-3b20-9aa821f8dc82}">
          <p14:sldIdLst>
            <p14:sldId id="269"/>
            <p14:sldId id="270"/>
          </p14:sldIdLst>
        </p14:section>
        <p14:section name="Wrap-up" id="{ab85e16e-5561-d47c-17ce-7c3a3bab9ebb}">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D1117"/>
                </a:solidFill>
                <a:latin typeface="+mn-lt"/>
              </a:defRPr>
            </a:pPr>
            <a:r>
              <a:rPr sz="1400" b="0" i="0" u="none" strike="noStrike">
                <a:solidFill>
                  <a:srgbClr val="0D1117"/>
                </a:solidFill>
                <a:latin typeface="+mn-lt"/>
              </a:rPr>
              <a:t>Time from failure detection (ms), local re-test</a:t>
            </a:r>
          </a:p>
        </c:rich>
      </c:tx>
      <c:layout/>
      <c:overlay val="0"/>
    </c:title>
    <c:autoTitleDeleted val="0"/>
    <c:plotArea>
      <c:layout/>
      <c:barChart>
        <c:barDir val="col"/>
        <c:grouping val="clustered"/>
        <c:varyColors val="0"/>
        <c:ser>
          <c:idx val="0"/>
          <c:order val="0"/>
          <c:tx>
            <c:strRef>
              <c:f>Sheet1!$B$1</c:f>
              <c:strCache>
                <c:ptCount val="1"/>
                <c:pt idx="0">
                  <c:v>Elapsed (ms)</c:v>
                </c:pt>
              </c:strCache>
            </c:strRef>
          </c:tx>
          <c:spPr>
            <a:solidFill>
              <a:srgbClr val="1A7F37"/>
            </a:solidFill>
            <a:effectLst/>
          </c:spPr>
          <c:invertIfNegative val="0"/>
          <c:dLbls>
            <c:numFmt formatCode="#,##0" sourceLinked="0"/>
            <c:txPr>
              <a:bodyPr/>
              <a:lstStyle/>
              <a:p>
                <a:pPr>
                  <a:defRPr b="0" i="0" strike="noStrike" sz="1400" u="none">
                    <a:solidFill>
                      <a:srgbClr val="0D1117"/>
                    </a:solidFill>
                    <a:latin typeface="+mn-lt"/>
                  </a:defRPr>
                </a:pPr>
              </a:p>
            </c:txPr>
            <c:showLegendKey val="0"/>
            <c:showVal val="1"/>
            <c:showCatName val="0"/>
            <c:showSerName val="0"/>
            <c:showPercent val="0"/>
            <c:showBubbleSize val="0"/>
            <c:showLeaderLines val="0"/>
          </c:dLbls>
          <c:cat>
            <c:multiLvlStrRef>
              <c:f>Sheet1!$A$2:$A$4</c:f>
              <c:multiLvlStrCache>
                <c:ptCount val="3"/>
                <c:lvl>
                  <c:pt idx="0">
                    <c:v>Detected</c:v>
                  </c:pt>
                  <c:pt idx="1">
                    <c:v>Restart started</c:v>
                  </c:pt>
                  <c:pt idx="2">
                    <c:v>Verified</c:v>
                  </c:pt>
                </c:lvl>
              </c:multiLvlStrCache>
            </c:multiLvlStrRef>
          </c:cat>
          <c:val>
            <c:numRef>
              <c:f>Sheet1!$B$2:$B$4</c:f>
              <c:numCache>
                <c:formatCode>General</c:formatCode>
                <c:ptCount val="3"/>
                <c:pt idx="0">
                  <c:v>0</c:v>
                </c:pt>
                <c:pt idx="1">
                  <c:v>4</c:v>
                </c:pt>
                <c:pt idx="2">
                  <c:v>5</c:v>
                </c:pt>
              </c:numCache>
            </c:numRef>
          </c:val>
        </c:ser>
        <c:dLbls>
          <c:numFmt formatCode="#,##0" sourceLinked="0"/>
          <c:txPr>
            <a:bodyPr/>
            <a:lstStyle/>
            <a:p>
              <a:pPr>
                <a:defRPr b="0" i="0" strike="noStrike" sz="1400" u="none">
                  <a:solidFill>
                    <a:srgbClr val="0D111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7606A"/>
                </a:solidFill>
                <a:latin typeface="+mn-lt"/>
              </a:defRPr>
            </a:pPr>
            <a:endParaRPr lang="en-US"/>
          </a:p>
        </c:txPr>
        <c:crossAx val="2094734552"/>
        <c:crosses val="autoZero"/>
        <c:auto val="1"/>
        <c:lblAlgn val="ctr"/>
        <c:noMultiLvlLbl val="1"/>
      </c:catAx>
      <c:valAx>
        <c:axId val="2094734552"/>
        <c:scaling>
          <c:orientation val="minMax"/>
          <c:max val="6"/>
        </c:scaling>
        <c:delete val="0"/>
        <c:axPos val="l"/>
        <c:majorGridlines>
          <c:spPr>
            <a:ln w="6350" cap="flat">
              <a:solidFill>
                <a:srgbClr val="D0D7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760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Nexus Reliability Console and the four team members. Topic: Linux Process Watchdog and Auto-Restart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of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unattended services need automatic recovery. Monitoring alone tells you something is wrong, not that it was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drive the design. Say plainly that restarts are bounded by policy settings and that automatic retries up to the limit are a planned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Nexus treats a process as alive only if PID, start time and command line match and it is not a zombie. Stopping uses SIGTERM with a kill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talks to the FastAPI backend over REST. The backend starts the monitoring loop at launch, checks processes with psutil and stores everything in SQLite. Settings come from the .env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tools are mature and Nexus does not replace them. The restart itself is not new. What is new is restart, verification and a per-incident record in one console. Gaps are typical, not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left to right and mention the loop. Verification needs the process alive within 3 seconds and a passing health check; with no URL configured the health check is the process check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timestamps from a local re-test: failure detected, restart initiated about 4 ms later, recovery verified about 5 ms after detection. It is not a benchmark. Recovery duration is stored in whole seconds, so it shows 0. Known gap: the monitor makes one attempt per incident, so retries up to the limit are not automatic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incident has a persisted timeline and alerts. The sample timeline is from a fresh re-test of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Python and Linux tooling plus a React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was observed in a test run except the planned-stop row, which is read from the code. Be upfront about the failing-health-check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design problems we had to solve, and where the prototype still has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today versus hardening versus scale. The next items are not implemented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four takeaways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548640" y="731520"/>
            <a:ext cx="7223760" cy="1920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2743200"/>
            <a:ext cx="694944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Linux Process Watchdog and Auto-Restart System</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1"/>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bg2"/>
                </a:solidFill>
              </a:rPr>
              <a:t>Linux Process Watchdog and Auto-Restart System</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731520"/>
            <a:ext cx="7223760" cy="1920240"/>
          </a:xfrm>
          <a:prstGeom prst="rect">
            <a:avLst/>
          </a:prstGeom>
          <a:noFill/>
          <a:ln/>
        </p:spPr>
        <p:txBody>
          <a:bodyPr wrap="square" lIns="0" tIns="0" rIns="0" bIns="0" rtlCol="0" anchor="t"/>
          <a:lstStyle/>
          <a:p>
            <a:pPr algn="l" indent="0" marL="0">
              <a:buNone/>
            </a:pPr>
            <a:r>
              <a:rPr lang="en-US" sz="4000" b="1" dirty="0">
                <a:solidFill>
                  <a:schemeClr val="bg1"/>
                </a:solidFill>
              </a:rPr>
              <a:t>Linux Process Watchdog and Auto-Restart System</a:t>
            </a:r>
            <a:endParaRPr lang="en-US" sz="4000" dirty="0"/>
          </a:p>
        </p:txBody>
      </p:sp>
      <p:sp>
        <p:nvSpPr>
          <p:cNvPr id="3" name="Text 1"/>
          <p:cNvSpPr/>
          <p:nvPr>
            <p:ph idx="102" type="body" hasCustomPrompt="1"/>
          </p:nvPr>
        </p:nvSpPr>
        <p:spPr>
          <a:xfrm>
            <a:off x="548640" y="2743200"/>
            <a:ext cx="6949440" cy="914400"/>
          </a:xfrm>
          <a:prstGeom prst="rect">
            <a:avLst/>
          </a:prstGeom>
          <a:noFill/>
          <a:ln/>
        </p:spPr>
        <p:txBody>
          <a:bodyPr wrap="square" lIns="0" tIns="0" rIns="0" bIns="0" rtlCol="0" anchor="t"/>
          <a:lstStyle/>
          <a:p>
            <a:pPr algn="l" indent="0" marL="0">
              <a:buNone/>
            </a:pPr>
            <a:r>
              <a:rPr lang="en-US" sz="1800" dirty="0">
                <a:solidFill>
                  <a:schemeClr val="bg2"/>
                </a:solidFill>
              </a:rPr>
              <a:t>Nexus Reliability Console: monitors selected processes, restarts them when they terminate unexpectedly, and records every recovery</a:t>
            </a:r>
            <a:endParaRPr lang="en-US" sz="1800" dirty="0"/>
          </a:p>
        </p:txBody>
      </p:sp>
      <p:sp>
        <p:nvSpPr>
          <p:cNvPr id="4" name="Terminal panel"/>
          <p:cNvSpPr/>
          <p:nvPr/>
        </p:nvSpPr>
        <p:spPr>
          <a:xfrm>
            <a:off x="8138160" y="731520"/>
            <a:ext cx="3502152" cy="2926080"/>
          </a:xfrm>
          <a:prstGeom prst="roundRect">
            <a:avLst>
              <a:gd name="adj" fmla="val 3125"/>
            </a:avLst>
          </a:prstGeom>
          <a:solidFill>
            <a:schemeClr val="tx2"/>
          </a:solidFill>
          <a:ln/>
        </p:spPr>
      </p:sp>
      <p:sp>
        <p:nvSpPr>
          <p:cNvPr id="5" name="Terminal dot 1"/>
          <p:cNvSpPr/>
          <p:nvPr/>
        </p:nvSpPr>
        <p:spPr>
          <a:xfrm>
            <a:off x="8321040" y="914400"/>
            <a:ext cx="137160" cy="137160"/>
          </a:xfrm>
          <a:prstGeom prst="ellipse">
            <a:avLst/>
          </a:prstGeom>
          <a:solidFill>
            <a:schemeClr val="accent4"/>
          </a:solidFill>
          <a:ln/>
        </p:spPr>
      </p:sp>
      <p:sp>
        <p:nvSpPr>
          <p:cNvPr id="6" name="Terminal dot 2"/>
          <p:cNvSpPr/>
          <p:nvPr/>
        </p:nvSpPr>
        <p:spPr>
          <a:xfrm>
            <a:off x="8549640" y="914400"/>
            <a:ext cx="137160" cy="137160"/>
          </a:xfrm>
          <a:prstGeom prst="ellipse">
            <a:avLst/>
          </a:prstGeom>
          <a:solidFill>
            <a:schemeClr val="accent2"/>
          </a:solidFill>
          <a:ln/>
        </p:spPr>
      </p:sp>
      <p:sp>
        <p:nvSpPr>
          <p:cNvPr id="7" name="Terminal dot 3"/>
          <p:cNvSpPr/>
          <p:nvPr/>
        </p:nvSpPr>
        <p:spPr>
          <a:xfrm>
            <a:off x="8778240" y="914400"/>
            <a:ext cx="137160" cy="137160"/>
          </a:xfrm>
          <a:prstGeom prst="ellipse">
            <a:avLst/>
          </a:prstGeom>
          <a:solidFill>
            <a:schemeClr val="accent6"/>
          </a:solidFill>
          <a:ln/>
        </p:spPr>
      </p:sp>
      <p:sp>
        <p:nvSpPr>
          <p:cNvPr id="8" name="Text 6"/>
          <p:cNvSpPr txBox="1"/>
          <p:nvPr/>
        </p:nvSpPr>
        <p:spPr>
          <a:xfrm>
            <a:off x="8321040" y="1325880"/>
            <a:ext cx="3200400" cy="2194560"/>
          </a:xfrm>
          <a:prstGeom prst="rect">
            <a:avLst/>
          </a:prstGeom>
          <a:noFill/>
          <a:ln/>
        </p:spPr>
        <p:txBody>
          <a:bodyPr wrap="square" lIns="0" tIns="0" rIns="0" bIns="0" rtlCol="0" anchor="t"/>
          <a:lstStyle/>
          <a:p>
            <a:pPr indent="0" marL="0">
              <a:spcAft>
                <a:spcPts val="600"/>
              </a:spcAft>
              <a:buNone/>
            </a:pPr>
            <a:r>
              <a:rPr lang="en-US" sz="1300" dirty="0">
                <a:solidFill>
                  <a:schemeClr val="bg1"/>
                </a:solidFill>
                <a:latin typeface="Courier New" pitchFamily="34" charset="0"/>
                <a:ea typeface="Courier New" pitchFamily="34" charset="-122"/>
                <a:cs typeface="Courier New" pitchFamily="34" charset="-120"/>
              </a:rPr>
              <a:t>$ uvicorn app.main:app</a:t>
            </a:r>
            <a:endParaRPr lang="en-US" sz="1300" dirty="0"/>
          </a:p>
          <a:p>
            <a:pPr indent="0" marL="0">
              <a:spcAft>
                <a:spcPts val="600"/>
              </a:spcAft>
              <a:buNone/>
            </a:pPr>
            <a:r>
              <a:rPr lang="en-US" sz="1300" dirty="0">
                <a:solidFill>
                  <a:schemeClr val="accent6"/>
                </a:solidFill>
                <a:latin typeface="Courier New" pitchFamily="34" charset="0"/>
                <a:ea typeface="Courier New" pitchFamily="34" charset="-122"/>
                <a:cs typeface="Courier New" pitchFamily="34" charset="-120"/>
              </a:rPr>
              <a:t>[OK]   agent   running</a:t>
            </a:r>
            <a:endParaRPr lang="en-US" sz="1300" dirty="0"/>
          </a:p>
          <a:p>
            <a:pPr indent="0" marL="0">
              <a:spcAft>
                <a:spcPts val="600"/>
              </a:spcAft>
              <a:buNone/>
            </a:pPr>
            <a:r>
              <a:rPr lang="en-US" sz="1300" dirty="0">
                <a:solidFill>
                  <a:schemeClr val="accent6"/>
                </a:solidFill>
                <a:latin typeface="Courier New" pitchFamily="34" charset="0"/>
                <a:ea typeface="Courier New" pitchFamily="34" charset="-122"/>
                <a:cs typeface="Courier New" pitchFamily="34" charset="-120"/>
              </a:rPr>
              <a:t>[OK]   worker  pid 526</a:t>
            </a:r>
            <a:endParaRPr lang="en-US" sz="1300" dirty="0"/>
          </a:p>
          <a:p>
            <a:pPr indent="0" marL="0">
              <a:spcAft>
                <a:spcPts val="600"/>
              </a:spcAft>
              <a:buNone/>
            </a:pPr>
            <a:r>
              <a:rPr lang="en-US" sz="1300" dirty="0">
                <a:solidFill>
                  <a:schemeClr val="accent2"/>
                </a:solidFill>
                <a:latin typeface="Courier New" pitchFamily="34" charset="0"/>
                <a:ea typeface="Courier New" pitchFamily="34" charset="-122"/>
                <a:cs typeface="Courier New" pitchFamily="34" charset="-120"/>
              </a:rPr>
              <a:t>[WARN] worker  stopped</a:t>
            </a:r>
            <a:endParaRPr lang="en-US" sz="1300" dirty="0"/>
          </a:p>
          <a:p>
            <a:pPr indent="0" marL="0">
              <a:spcAft>
                <a:spcPts val="600"/>
              </a:spcAft>
              <a:buNone/>
            </a:pPr>
            <a:r>
              <a:rPr lang="en-US" sz="1300" dirty="0">
                <a:solidFill>
                  <a:schemeClr val="bg2"/>
                </a:solidFill>
                <a:latin typeface="Courier New" pitchFamily="34" charset="0"/>
                <a:ea typeface="Courier New" pitchFamily="34" charset="-122"/>
                <a:cs typeface="Courier New" pitchFamily="34" charset="-120"/>
              </a:rPr>
              <a:t>[INFO] restart 1 of 3...</a:t>
            </a:r>
            <a:endParaRPr lang="en-US" sz="1300" dirty="0"/>
          </a:p>
          <a:p>
            <a:pPr indent="0" marL="0">
              <a:spcAft>
                <a:spcPts val="600"/>
              </a:spcAft>
              <a:buNone/>
            </a:pPr>
            <a:r>
              <a:rPr lang="en-US" sz="1300" dirty="0">
                <a:solidFill>
                  <a:schemeClr val="accent6"/>
                </a:solidFill>
                <a:latin typeface="Courier New" pitchFamily="34" charset="0"/>
                <a:ea typeface="Courier New" pitchFamily="34" charset="-122"/>
                <a:cs typeface="Courier New" pitchFamily="34" charset="-120"/>
              </a:rPr>
              <a:t>[OK]   recovery verified</a:t>
            </a:r>
            <a:endParaRPr lang="en-US" sz="1300" dirty="0"/>
          </a:p>
        </p:txBody>
      </p:sp>
      <p:sp>
        <p:nvSpPr>
          <p:cNvPr id="9" name="Text 7"/>
          <p:cNvSpPr txBox="1"/>
          <p:nvPr/>
        </p:nvSpPr>
        <p:spPr>
          <a:xfrm>
            <a:off x="548640" y="4069080"/>
            <a:ext cx="5486400" cy="274320"/>
          </a:xfrm>
          <a:prstGeom prst="rect">
            <a:avLst/>
          </a:prstGeom>
          <a:noFill/>
          <a:ln/>
        </p:spPr>
        <p:txBody>
          <a:bodyPr wrap="square" lIns="0" tIns="0" rIns="0" bIns="0" rtlCol="0" anchor="t"/>
          <a:lstStyle/>
          <a:p>
            <a:pPr indent="0" marL="0">
              <a:buNone/>
            </a:pPr>
            <a:r>
              <a:rPr lang="en-US" sz="1400" b="1" spc="300" kern="0" dirty="0">
                <a:solidFill>
                  <a:schemeClr val="accent6"/>
                </a:solidFill>
              </a:rPr>
              <a:t>TEAM MEMBERS</a:t>
            </a:r>
            <a:endParaRPr lang="en-US" sz="1400" dirty="0"/>
          </a:p>
        </p:txBody>
      </p:sp>
      <p:sp>
        <p:nvSpPr>
          <p:cNvPr id="10" name="Team card Bhanu Jakka"/>
          <p:cNvSpPr/>
          <p:nvPr/>
        </p:nvSpPr>
        <p:spPr>
          <a:xfrm>
            <a:off x="548640" y="4480560"/>
            <a:ext cx="2651760" cy="1280160"/>
          </a:xfrm>
          <a:prstGeom prst="roundRect">
            <a:avLst>
              <a:gd name="adj" fmla="val 7143"/>
            </a:avLst>
          </a:prstGeom>
          <a:solidFill>
            <a:schemeClr val="tx2"/>
          </a:solidFill>
          <a:ln/>
        </p:spPr>
      </p:sp>
      <p:sp>
        <p:nvSpPr>
          <p:cNvPr id="11" name="Avatar BJ"/>
          <p:cNvSpPr/>
          <p:nvPr/>
        </p:nvSpPr>
        <p:spPr>
          <a:xfrm>
            <a:off x="731520" y="4800600"/>
            <a:ext cx="640080" cy="640080"/>
          </a:xfrm>
          <a:prstGeom prst="ellipse">
            <a:avLst/>
          </a:prstGeom>
          <a:solidFill>
            <a:schemeClr val="accent1"/>
          </a:solidFill>
          <a:ln/>
        </p:spPr>
      </p:sp>
      <p:sp>
        <p:nvSpPr>
          <p:cNvPr id="12" name="Text 10"/>
          <p:cNvSpPr txBox="1"/>
          <p:nvPr/>
        </p:nvSpPr>
        <p:spPr>
          <a:xfrm>
            <a:off x="731520" y="4800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BJ</a:t>
            </a:r>
            <a:endParaRPr lang="en-US" sz="1600" dirty="0"/>
          </a:p>
        </p:txBody>
      </p:sp>
      <p:sp>
        <p:nvSpPr>
          <p:cNvPr id="13" name="Text 11"/>
          <p:cNvSpPr txBox="1"/>
          <p:nvPr/>
        </p:nvSpPr>
        <p:spPr>
          <a:xfrm>
            <a:off x="1554480" y="4572000"/>
            <a:ext cx="1554480" cy="1097280"/>
          </a:xfrm>
          <a:prstGeom prst="rect">
            <a:avLst/>
          </a:prstGeom>
          <a:noFill/>
          <a:ln/>
        </p:spPr>
        <p:txBody>
          <a:bodyPr wrap="square" lIns="0" tIns="0" rIns="0" bIns="0" rtlCol="0" anchor="ctr"/>
          <a:lstStyle/>
          <a:p>
            <a:pPr indent="0" marL="0">
              <a:buNone/>
            </a:pPr>
            <a:r>
              <a:rPr lang="en-US" sz="1800" b="1" dirty="0">
                <a:solidFill>
                  <a:schemeClr val="bg1"/>
                </a:solidFill>
              </a:rPr>
              <a:t>Bhanu Jakka</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2520030006</a:t>
            </a:r>
            <a:endParaRPr lang="en-US" sz="1400" dirty="0"/>
          </a:p>
        </p:txBody>
      </p:sp>
      <p:sp>
        <p:nvSpPr>
          <p:cNvPr id="14" name="Team card Akshita Anand"/>
          <p:cNvSpPr/>
          <p:nvPr/>
        </p:nvSpPr>
        <p:spPr>
          <a:xfrm>
            <a:off x="3383280" y="4480560"/>
            <a:ext cx="2651760" cy="1280160"/>
          </a:xfrm>
          <a:prstGeom prst="roundRect">
            <a:avLst>
              <a:gd name="adj" fmla="val 7143"/>
            </a:avLst>
          </a:prstGeom>
          <a:solidFill>
            <a:schemeClr val="tx2"/>
          </a:solidFill>
          <a:ln/>
        </p:spPr>
      </p:sp>
      <p:sp>
        <p:nvSpPr>
          <p:cNvPr id="15" name="Avatar AA"/>
          <p:cNvSpPr/>
          <p:nvPr/>
        </p:nvSpPr>
        <p:spPr>
          <a:xfrm>
            <a:off x="3566160" y="4800600"/>
            <a:ext cx="640080" cy="640080"/>
          </a:xfrm>
          <a:prstGeom prst="ellipse">
            <a:avLst/>
          </a:prstGeom>
          <a:solidFill>
            <a:schemeClr val="accent1"/>
          </a:solidFill>
          <a:ln/>
        </p:spPr>
      </p:sp>
      <p:sp>
        <p:nvSpPr>
          <p:cNvPr id="16" name="Text 14"/>
          <p:cNvSpPr txBox="1"/>
          <p:nvPr/>
        </p:nvSpPr>
        <p:spPr>
          <a:xfrm>
            <a:off x="3566160" y="4800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AA</a:t>
            </a:r>
            <a:endParaRPr lang="en-US" sz="1600" dirty="0"/>
          </a:p>
        </p:txBody>
      </p:sp>
      <p:sp>
        <p:nvSpPr>
          <p:cNvPr id="17" name="Text 15"/>
          <p:cNvSpPr txBox="1"/>
          <p:nvPr/>
        </p:nvSpPr>
        <p:spPr>
          <a:xfrm>
            <a:off x="4389120" y="4572000"/>
            <a:ext cx="1554480" cy="1097280"/>
          </a:xfrm>
          <a:prstGeom prst="rect">
            <a:avLst/>
          </a:prstGeom>
          <a:noFill/>
          <a:ln/>
        </p:spPr>
        <p:txBody>
          <a:bodyPr wrap="square" lIns="0" tIns="0" rIns="0" bIns="0" rtlCol="0" anchor="ctr"/>
          <a:lstStyle/>
          <a:p>
            <a:pPr indent="0" marL="0">
              <a:buNone/>
            </a:pPr>
            <a:r>
              <a:rPr lang="en-US" sz="1800" b="1" dirty="0">
                <a:solidFill>
                  <a:schemeClr val="bg1"/>
                </a:solidFill>
              </a:rPr>
              <a:t>Akshita Anand</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2520030043</a:t>
            </a:r>
            <a:endParaRPr lang="en-US" sz="1400" dirty="0"/>
          </a:p>
        </p:txBody>
      </p:sp>
      <p:sp>
        <p:nvSpPr>
          <p:cNvPr id="18" name="Team card A. Kuvira"/>
          <p:cNvSpPr/>
          <p:nvPr/>
        </p:nvSpPr>
        <p:spPr>
          <a:xfrm>
            <a:off x="6217920" y="4480560"/>
            <a:ext cx="2651760" cy="1280160"/>
          </a:xfrm>
          <a:prstGeom prst="roundRect">
            <a:avLst>
              <a:gd name="adj" fmla="val 7143"/>
            </a:avLst>
          </a:prstGeom>
          <a:solidFill>
            <a:schemeClr val="tx2"/>
          </a:solidFill>
          <a:ln/>
        </p:spPr>
      </p:sp>
      <p:sp>
        <p:nvSpPr>
          <p:cNvPr id="19" name="Avatar AK"/>
          <p:cNvSpPr/>
          <p:nvPr/>
        </p:nvSpPr>
        <p:spPr>
          <a:xfrm>
            <a:off x="6400800" y="4800600"/>
            <a:ext cx="640080" cy="640080"/>
          </a:xfrm>
          <a:prstGeom prst="ellipse">
            <a:avLst/>
          </a:prstGeom>
          <a:solidFill>
            <a:schemeClr val="accent1"/>
          </a:solidFill>
          <a:ln/>
        </p:spPr>
      </p:sp>
      <p:sp>
        <p:nvSpPr>
          <p:cNvPr id="20" name="Text 18"/>
          <p:cNvSpPr txBox="1"/>
          <p:nvPr/>
        </p:nvSpPr>
        <p:spPr>
          <a:xfrm>
            <a:off x="6400800" y="4800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AK</a:t>
            </a:r>
            <a:endParaRPr lang="en-US" sz="1600" dirty="0"/>
          </a:p>
        </p:txBody>
      </p:sp>
      <p:sp>
        <p:nvSpPr>
          <p:cNvPr id="21" name="Text 19"/>
          <p:cNvSpPr txBox="1"/>
          <p:nvPr/>
        </p:nvSpPr>
        <p:spPr>
          <a:xfrm>
            <a:off x="7223760" y="4572000"/>
            <a:ext cx="1554480" cy="1097280"/>
          </a:xfrm>
          <a:prstGeom prst="rect">
            <a:avLst/>
          </a:prstGeom>
          <a:noFill/>
          <a:ln/>
        </p:spPr>
        <p:txBody>
          <a:bodyPr wrap="square" lIns="0" tIns="0" rIns="0" bIns="0" rtlCol="0" anchor="ctr"/>
          <a:lstStyle/>
          <a:p>
            <a:pPr indent="0" marL="0">
              <a:buNone/>
            </a:pPr>
            <a:r>
              <a:rPr lang="en-US" sz="1800" b="1" dirty="0">
                <a:solidFill>
                  <a:schemeClr val="bg1"/>
                </a:solidFill>
              </a:rPr>
              <a:t>A. Kuvira</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2520030192</a:t>
            </a:r>
            <a:endParaRPr lang="en-US" sz="1400" dirty="0"/>
          </a:p>
        </p:txBody>
      </p:sp>
      <p:sp>
        <p:nvSpPr>
          <p:cNvPr id="22" name="Team card P. Sudha"/>
          <p:cNvSpPr/>
          <p:nvPr/>
        </p:nvSpPr>
        <p:spPr>
          <a:xfrm>
            <a:off x="9052560" y="4480560"/>
            <a:ext cx="2651760" cy="1280160"/>
          </a:xfrm>
          <a:prstGeom prst="roundRect">
            <a:avLst>
              <a:gd name="adj" fmla="val 7143"/>
            </a:avLst>
          </a:prstGeom>
          <a:solidFill>
            <a:schemeClr val="tx2"/>
          </a:solidFill>
          <a:ln/>
        </p:spPr>
      </p:sp>
      <p:sp>
        <p:nvSpPr>
          <p:cNvPr id="23" name="Avatar PS"/>
          <p:cNvSpPr/>
          <p:nvPr/>
        </p:nvSpPr>
        <p:spPr>
          <a:xfrm>
            <a:off x="9235440" y="4800600"/>
            <a:ext cx="640080" cy="640080"/>
          </a:xfrm>
          <a:prstGeom prst="ellipse">
            <a:avLst/>
          </a:prstGeom>
          <a:solidFill>
            <a:schemeClr val="accent1"/>
          </a:solidFill>
          <a:ln/>
        </p:spPr>
      </p:sp>
      <p:sp>
        <p:nvSpPr>
          <p:cNvPr id="24" name="Text 22"/>
          <p:cNvSpPr txBox="1"/>
          <p:nvPr/>
        </p:nvSpPr>
        <p:spPr>
          <a:xfrm>
            <a:off x="9235440" y="4800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PS</a:t>
            </a:r>
            <a:endParaRPr lang="en-US" sz="1600" dirty="0"/>
          </a:p>
        </p:txBody>
      </p:sp>
      <p:sp>
        <p:nvSpPr>
          <p:cNvPr id="25" name="Text 23"/>
          <p:cNvSpPr txBox="1"/>
          <p:nvPr/>
        </p:nvSpPr>
        <p:spPr>
          <a:xfrm>
            <a:off x="10058400" y="4572000"/>
            <a:ext cx="1554480" cy="1097280"/>
          </a:xfrm>
          <a:prstGeom prst="rect">
            <a:avLst/>
          </a:prstGeom>
          <a:noFill/>
          <a:ln/>
        </p:spPr>
        <p:txBody>
          <a:bodyPr wrap="square" lIns="0" tIns="0" rIns="0" bIns="0" rtlCol="0" anchor="ctr"/>
          <a:lstStyle/>
          <a:p>
            <a:pPr indent="0" marL="0">
              <a:buNone/>
            </a:pPr>
            <a:r>
              <a:rPr lang="en-US" sz="1800" b="1" dirty="0">
                <a:solidFill>
                  <a:schemeClr val="bg1"/>
                </a:solidFill>
              </a:rPr>
              <a:t>P. Sudha</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2520030455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Agenda</a:t>
            </a:r>
            <a:endParaRPr lang="en-US" sz="3600" dirty="0"/>
          </a:p>
        </p:txBody>
      </p:sp>
      <p:sp>
        <p:nvSpPr>
          <p:cNvPr id="3" name="Agenda 1"/>
          <p:cNvSpPr/>
          <p:nvPr/>
        </p:nvSpPr>
        <p:spPr>
          <a:xfrm>
            <a:off x="548640" y="1554480"/>
            <a:ext cx="2606040" cy="2103120"/>
          </a:xfrm>
          <a:prstGeom prst="roundRect">
            <a:avLst>
              <a:gd name="adj" fmla="val 4348"/>
            </a:avLst>
          </a:prstGeom>
          <a:solidFill>
            <a:schemeClr val="bg2"/>
          </a:solidFill>
          <a:ln/>
        </p:spPr>
      </p:sp>
      <p:sp>
        <p:nvSpPr>
          <p:cNvPr id="4" name="Text 2"/>
          <p:cNvSpPr txBox="1"/>
          <p:nvPr/>
        </p:nvSpPr>
        <p:spPr>
          <a:xfrm>
            <a:off x="777240" y="1783080"/>
            <a:ext cx="2103120" cy="64008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01</a:t>
            </a:r>
            <a:endParaRPr lang="en-US" sz="3600" dirty="0"/>
          </a:p>
        </p:txBody>
      </p:sp>
      <p:sp>
        <p:nvSpPr>
          <p:cNvPr id="5" name="Text 3"/>
          <p:cNvSpPr txBox="1"/>
          <p:nvPr/>
        </p:nvSpPr>
        <p:spPr>
          <a:xfrm>
            <a:off x="777240" y="2560320"/>
            <a:ext cx="2194560" cy="914400"/>
          </a:xfrm>
          <a:prstGeom prst="rect">
            <a:avLst/>
          </a:prstGeom>
          <a:noFill/>
          <a:ln/>
        </p:spPr>
        <p:txBody>
          <a:bodyPr wrap="square" lIns="0" tIns="0" rIns="0" bIns="0" rtlCol="0" anchor="t"/>
          <a:lstStyle/>
          <a:p>
            <a:pPr indent="0" marL="0">
              <a:buNone/>
            </a:pPr>
            <a:r>
              <a:rPr lang="en-US" sz="1800" b="1" dirty="0">
                <a:solidFill>
                  <a:schemeClr val="tx1"/>
                </a:solidFill>
              </a:rPr>
              <a:t>Introduction</a:t>
            </a:r>
            <a:endParaRPr lang="en-US" sz="1400" dirty="0"/>
          </a:p>
          <a:p>
            <a:pPr indent="0" marL="0">
              <a:buNone/>
            </a:pPr>
            <a:r>
              <a:rPr lang="en-US" sz="1400" dirty="0">
                <a:solidFill>
                  <a:schemeClr val="accent5"/>
                </a:solidFill>
              </a:rPr>
              <a:t>Problem and motivation</a:t>
            </a:r>
            <a:endParaRPr lang="en-US" sz="1400" dirty="0"/>
          </a:p>
        </p:txBody>
      </p:sp>
      <p:sp>
        <p:nvSpPr>
          <p:cNvPr id="6" name="Agenda 2"/>
          <p:cNvSpPr/>
          <p:nvPr/>
        </p:nvSpPr>
        <p:spPr>
          <a:xfrm>
            <a:off x="3364992" y="1554480"/>
            <a:ext cx="2606040" cy="2103120"/>
          </a:xfrm>
          <a:prstGeom prst="roundRect">
            <a:avLst>
              <a:gd name="adj" fmla="val 4348"/>
            </a:avLst>
          </a:prstGeom>
          <a:solidFill>
            <a:schemeClr val="bg2"/>
          </a:solidFill>
          <a:ln/>
        </p:spPr>
      </p:sp>
      <p:sp>
        <p:nvSpPr>
          <p:cNvPr id="7" name="Text 5"/>
          <p:cNvSpPr txBox="1"/>
          <p:nvPr/>
        </p:nvSpPr>
        <p:spPr>
          <a:xfrm>
            <a:off x="3593592" y="1783080"/>
            <a:ext cx="2103120" cy="64008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02</a:t>
            </a:r>
            <a:endParaRPr lang="en-US" sz="3600" dirty="0"/>
          </a:p>
        </p:txBody>
      </p:sp>
      <p:sp>
        <p:nvSpPr>
          <p:cNvPr id="8" name="Text 6"/>
          <p:cNvSpPr txBox="1"/>
          <p:nvPr/>
        </p:nvSpPr>
        <p:spPr>
          <a:xfrm>
            <a:off x="3593592" y="2560320"/>
            <a:ext cx="2194560" cy="914400"/>
          </a:xfrm>
          <a:prstGeom prst="rect">
            <a:avLst/>
          </a:prstGeom>
          <a:noFill/>
          <a:ln/>
        </p:spPr>
        <p:txBody>
          <a:bodyPr wrap="square" lIns="0" tIns="0" rIns="0" bIns="0" rtlCol="0" anchor="t"/>
          <a:lstStyle/>
          <a:p>
            <a:pPr indent="0" marL="0">
              <a:buNone/>
            </a:pPr>
            <a:r>
              <a:rPr lang="en-US" sz="1800" b="1" dirty="0">
                <a:solidFill>
                  <a:schemeClr val="tx1"/>
                </a:solidFill>
              </a:rPr>
              <a:t>Objectives</a:t>
            </a:r>
            <a:endParaRPr lang="en-US" sz="1400" dirty="0"/>
          </a:p>
          <a:p>
            <a:pPr indent="0" marL="0">
              <a:buNone/>
            </a:pPr>
            <a:r>
              <a:rPr lang="en-US" sz="1400" dirty="0">
                <a:solidFill>
                  <a:schemeClr val="accent5"/>
                </a:solidFill>
              </a:rPr>
              <a:t>Goals of the system</a:t>
            </a:r>
            <a:endParaRPr lang="en-US" sz="1400" dirty="0"/>
          </a:p>
        </p:txBody>
      </p:sp>
      <p:sp>
        <p:nvSpPr>
          <p:cNvPr id="9" name="Agenda 3"/>
          <p:cNvSpPr/>
          <p:nvPr/>
        </p:nvSpPr>
        <p:spPr>
          <a:xfrm>
            <a:off x="6181344" y="1554480"/>
            <a:ext cx="2606040" cy="2103120"/>
          </a:xfrm>
          <a:prstGeom prst="roundRect">
            <a:avLst>
              <a:gd name="adj" fmla="val 4348"/>
            </a:avLst>
          </a:prstGeom>
          <a:solidFill>
            <a:schemeClr val="bg2"/>
          </a:solidFill>
          <a:ln/>
        </p:spPr>
      </p:sp>
      <p:sp>
        <p:nvSpPr>
          <p:cNvPr id="10" name="Text 8"/>
          <p:cNvSpPr txBox="1"/>
          <p:nvPr/>
        </p:nvSpPr>
        <p:spPr>
          <a:xfrm>
            <a:off x="6409944" y="1783080"/>
            <a:ext cx="2103120" cy="64008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03</a:t>
            </a:r>
            <a:endParaRPr lang="en-US" sz="3600" dirty="0"/>
          </a:p>
        </p:txBody>
      </p:sp>
      <p:sp>
        <p:nvSpPr>
          <p:cNvPr id="11" name="Text 9"/>
          <p:cNvSpPr txBox="1"/>
          <p:nvPr/>
        </p:nvSpPr>
        <p:spPr>
          <a:xfrm>
            <a:off x="6409944" y="2560320"/>
            <a:ext cx="2194560" cy="914400"/>
          </a:xfrm>
          <a:prstGeom prst="rect">
            <a:avLst/>
          </a:prstGeom>
          <a:noFill/>
          <a:ln/>
        </p:spPr>
        <p:txBody>
          <a:bodyPr wrap="square" lIns="0" tIns="0" rIns="0" bIns="0" rtlCol="0" anchor="t"/>
          <a:lstStyle/>
          <a:p>
            <a:pPr indent="0" marL="0">
              <a:buNone/>
            </a:pPr>
            <a:r>
              <a:rPr lang="en-US" sz="1800" b="1" dirty="0">
                <a:solidFill>
                  <a:schemeClr val="tx1"/>
                </a:solidFill>
              </a:rPr>
              <a:t>Concepts</a:t>
            </a:r>
            <a:endParaRPr lang="en-US" sz="1400" dirty="0"/>
          </a:p>
          <a:p>
            <a:pPr indent="0" marL="0">
              <a:buNone/>
            </a:pPr>
            <a:r>
              <a:rPr lang="en-US" sz="1400" dirty="0">
                <a:solidFill>
                  <a:schemeClr val="accent5"/>
                </a:solidFill>
              </a:rPr>
              <a:t>Process identity and states</a:t>
            </a:r>
            <a:endParaRPr lang="en-US" sz="1400" dirty="0"/>
          </a:p>
        </p:txBody>
      </p:sp>
      <p:sp>
        <p:nvSpPr>
          <p:cNvPr id="12" name="Agenda 4"/>
          <p:cNvSpPr/>
          <p:nvPr/>
        </p:nvSpPr>
        <p:spPr>
          <a:xfrm>
            <a:off x="8997696" y="1554480"/>
            <a:ext cx="2606040" cy="2103120"/>
          </a:xfrm>
          <a:prstGeom prst="roundRect">
            <a:avLst>
              <a:gd name="adj" fmla="val 4348"/>
            </a:avLst>
          </a:prstGeom>
          <a:solidFill>
            <a:schemeClr val="bg2"/>
          </a:solidFill>
          <a:ln/>
        </p:spPr>
      </p:sp>
      <p:sp>
        <p:nvSpPr>
          <p:cNvPr id="13" name="Text 11"/>
          <p:cNvSpPr txBox="1"/>
          <p:nvPr/>
        </p:nvSpPr>
        <p:spPr>
          <a:xfrm>
            <a:off x="9226296" y="1783080"/>
            <a:ext cx="2103120" cy="64008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04</a:t>
            </a:r>
            <a:endParaRPr lang="en-US" sz="3600" dirty="0"/>
          </a:p>
        </p:txBody>
      </p:sp>
      <p:sp>
        <p:nvSpPr>
          <p:cNvPr id="14" name="Text 12"/>
          <p:cNvSpPr txBox="1"/>
          <p:nvPr/>
        </p:nvSpPr>
        <p:spPr>
          <a:xfrm>
            <a:off x="9226296" y="2560320"/>
            <a:ext cx="2194560" cy="914400"/>
          </a:xfrm>
          <a:prstGeom prst="rect">
            <a:avLst/>
          </a:prstGeom>
          <a:noFill/>
          <a:ln/>
        </p:spPr>
        <p:txBody>
          <a:bodyPr wrap="square" lIns="0" tIns="0" rIns="0" bIns="0" rtlCol="0" anchor="t"/>
          <a:lstStyle/>
          <a:p>
            <a:pPr indent="0" marL="0">
              <a:buNone/>
            </a:pPr>
            <a:r>
              <a:rPr lang="en-US" sz="1800" b="1" dirty="0">
                <a:solidFill>
                  <a:schemeClr val="tx1"/>
                </a:solidFill>
              </a:rPr>
              <a:t>Architecture</a:t>
            </a:r>
            <a:endParaRPr lang="en-US" sz="1400" dirty="0"/>
          </a:p>
          <a:p>
            <a:pPr indent="0" marL="0">
              <a:buNone/>
            </a:pPr>
            <a:r>
              <a:rPr lang="en-US" sz="1400" dirty="0">
                <a:solidFill>
                  <a:schemeClr val="accent5"/>
                </a:solidFill>
              </a:rPr>
              <a:t>Components and data flow</a:t>
            </a:r>
            <a:endParaRPr lang="en-US" sz="1400" dirty="0"/>
          </a:p>
        </p:txBody>
      </p:sp>
      <p:sp>
        <p:nvSpPr>
          <p:cNvPr id="15" name="Agenda 5"/>
          <p:cNvSpPr/>
          <p:nvPr/>
        </p:nvSpPr>
        <p:spPr>
          <a:xfrm>
            <a:off x="548640" y="3931920"/>
            <a:ext cx="2606040" cy="2103120"/>
          </a:xfrm>
          <a:prstGeom prst="roundRect">
            <a:avLst>
              <a:gd name="adj" fmla="val 4348"/>
            </a:avLst>
          </a:prstGeom>
          <a:solidFill>
            <a:schemeClr val="bg2"/>
          </a:solidFill>
          <a:ln/>
        </p:spPr>
      </p:sp>
      <p:sp>
        <p:nvSpPr>
          <p:cNvPr id="16" name="Text 14"/>
          <p:cNvSpPr txBox="1"/>
          <p:nvPr/>
        </p:nvSpPr>
        <p:spPr>
          <a:xfrm>
            <a:off x="777240" y="4160520"/>
            <a:ext cx="2103120" cy="64008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05</a:t>
            </a:r>
            <a:endParaRPr lang="en-US" sz="3600" dirty="0"/>
          </a:p>
        </p:txBody>
      </p:sp>
      <p:sp>
        <p:nvSpPr>
          <p:cNvPr id="17" name="Text 15"/>
          <p:cNvSpPr txBox="1"/>
          <p:nvPr/>
        </p:nvSpPr>
        <p:spPr>
          <a:xfrm>
            <a:off x="777240" y="4937760"/>
            <a:ext cx="2194560" cy="914400"/>
          </a:xfrm>
          <a:prstGeom prst="rect">
            <a:avLst/>
          </a:prstGeom>
          <a:noFill/>
          <a:ln/>
        </p:spPr>
        <p:txBody>
          <a:bodyPr wrap="square" lIns="0" tIns="0" rIns="0" bIns="0" rtlCol="0" anchor="t"/>
          <a:lstStyle/>
          <a:p>
            <a:pPr indent="0" marL="0">
              <a:buNone/>
            </a:pPr>
            <a:r>
              <a:rPr lang="en-US" sz="1800" b="1" dirty="0">
                <a:solidFill>
                  <a:schemeClr val="tx1"/>
                </a:solidFill>
              </a:rPr>
              <a:t>Workflow</a:t>
            </a:r>
            <a:endParaRPr lang="en-US" sz="1400" dirty="0"/>
          </a:p>
          <a:p>
            <a:pPr indent="0" marL="0">
              <a:buNone/>
            </a:pPr>
            <a:r>
              <a:rPr lang="en-US" sz="1400" dirty="0">
                <a:solidFill>
                  <a:schemeClr val="accent5"/>
                </a:solidFill>
              </a:rPr>
              <a:t>Detection, tools, recovery</a:t>
            </a:r>
            <a:endParaRPr lang="en-US" sz="1400" dirty="0"/>
          </a:p>
        </p:txBody>
      </p:sp>
      <p:sp>
        <p:nvSpPr>
          <p:cNvPr id="18" name="Agenda 6"/>
          <p:cNvSpPr/>
          <p:nvPr/>
        </p:nvSpPr>
        <p:spPr>
          <a:xfrm>
            <a:off x="3364992" y="3931920"/>
            <a:ext cx="2606040" cy="2103120"/>
          </a:xfrm>
          <a:prstGeom prst="roundRect">
            <a:avLst>
              <a:gd name="adj" fmla="val 4348"/>
            </a:avLst>
          </a:prstGeom>
          <a:solidFill>
            <a:schemeClr val="bg2"/>
          </a:solidFill>
          <a:ln/>
        </p:spPr>
      </p:sp>
      <p:sp>
        <p:nvSpPr>
          <p:cNvPr id="19" name="Text 17"/>
          <p:cNvSpPr txBox="1"/>
          <p:nvPr/>
        </p:nvSpPr>
        <p:spPr>
          <a:xfrm>
            <a:off x="3593592" y="4160520"/>
            <a:ext cx="2103120" cy="64008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06</a:t>
            </a:r>
            <a:endParaRPr lang="en-US" sz="3600" dirty="0"/>
          </a:p>
        </p:txBody>
      </p:sp>
      <p:sp>
        <p:nvSpPr>
          <p:cNvPr id="20" name="Text 18"/>
          <p:cNvSpPr txBox="1"/>
          <p:nvPr/>
        </p:nvSpPr>
        <p:spPr>
          <a:xfrm>
            <a:off x="3593592" y="4937760"/>
            <a:ext cx="2194560" cy="914400"/>
          </a:xfrm>
          <a:prstGeom prst="rect">
            <a:avLst/>
          </a:prstGeom>
          <a:noFill/>
          <a:ln/>
        </p:spPr>
        <p:txBody>
          <a:bodyPr wrap="square" lIns="0" tIns="0" rIns="0" bIns="0" rtlCol="0" anchor="t"/>
          <a:lstStyle/>
          <a:p>
            <a:pPr indent="0" marL="0">
              <a:buNone/>
            </a:pPr>
            <a:r>
              <a:rPr lang="en-US" sz="1800" b="1" dirty="0">
                <a:solidFill>
                  <a:schemeClr val="tx1"/>
                </a:solidFill>
              </a:rPr>
              <a:t>Implementation</a:t>
            </a:r>
            <a:endParaRPr lang="en-US" sz="1400" dirty="0"/>
          </a:p>
          <a:p>
            <a:pPr indent="0" marL="0">
              <a:buNone/>
            </a:pPr>
            <a:r>
              <a:rPr lang="en-US" sz="1400" dirty="0">
                <a:solidFill>
                  <a:schemeClr val="accent5"/>
                </a:solidFill>
              </a:rPr>
              <a:t>Incidents, alerts, stack</a:t>
            </a:r>
            <a:endParaRPr lang="en-US" sz="1400" dirty="0"/>
          </a:p>
        </p:txBody>
      </p:sp>
      <p:sp>
        <p:nvSpPr>
          <p:cNvPr id="21" name="Agenda 7"/>
          <p:cNvSpPr/>
          <p:nvPr/>
        </p:nvSpPr>
        <p:spPr>
          <a:xfrm>
            <a:off x="6181344" y="3931920"/>
            <a:ext cx="2606040" cy="2103120"/>
          </a:xfrm>
          <a:prstGeom prst="roundRect">
            <a:avLst>
              <a:gd name="adj" fmla="val 4348"/>
            </a:avLst>
          </a:prstGeom>
          <a:solidFill>
            <a:schemeClr val="bg2"/>
          </a:solidFill>
          <a:ln/>
        </p:spPr>
      </p:sp>
      <p:sp>
        <p:nvSpPr>
          <p:cNvPr id="22" name="Text 20"/>
          <p:cNvSpPr txBox="1"/>
          <p:nvPr/>
        </p:nvSpPr>
        <p:spPr>
          <a:xfrm>
            <a:off x="6409944" y="4160520"/>
            <a:ext cx="2103120" cy="64008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07</a:t>
            </a:r>
            <a:endParaRPr lang="en-US" sz="3600" dirty="0"/>
          </a:p>
        </p:txBody>
      </p:sp>
      <p:sp>
        <p:nvSpPr>
          <p:cNvPr id="23" name="Text 21"/>
          <p:cNvSpPr txBox="1"/>
          <p:nvPr/>
        </p:nvSpPr>
        <p:spPr>
          <a:xfrm>
            <a:off x="6409944" y="4937760"/>
            <a:ext cx="2194560" cy="914400"/>
          </a:xfrm>
          <a:prstGeom prst="rect">
            <a:avLst/>
          </a:prstGeom>
          <a:noFill/>
          <a:ln/>
        </p:spPr>
        <p:txBody>
          <a:bodyPr wrap="square" lIns="0" tIns="0" rIns="0" bIns="0" rtlCol="0" anchor="t"/>
          <a:lstStyle/>
          <a:p>
            <a:pPr indent="0" marL="0">
              <a:buNone/>
            </a:pPr>
            <a:r>
              <a:rPr lang="en-US" sz="1800" b="1" dirty="0">
                <a:solidFill>
                  <a:schemeClr val="tx1"/>
                </a:solidFill>
              </a:rPr>
              <a:t>Testing</a:t>
            </a:r>
            <a:endParaRPr lang="en-US" sz="1400" dirty="0"/>
          </a:p>
          <a:p>
            <a:pPr indent="0" marL="0">
              <a:buNone/>
            </a:pPr>
            <a:r>
              <a:rPr lang="en-US" sz="1400" dirty="0">
                <a:solidFill>
                  <a:schemeClr val="accent5"/>
                </a:solidFill>
              </a:rPr>
              <a:t>Results and challenges</a:t>
            </a:r>
            <a:endParaRPr lang="en-US" sz="1400" dirty="0"/>
          </a:p>
        </p:txBody>
      </p:sp>
      <p:sp>
        <p:nvSpPr>
          <p:cNvPr id="24" name="Agenda 8"/>
          <p:cNvSpPr/>
          <p:nvPr/>
        </p:nvSpPr>
        <p:spPr>
          <a:xfrm>
            <a:off x="8997696" y="3931920"/>
            <a:ext cx="2606040" cy="2103120"/>
          </a:xfrm>
          <a:prstGeom prst="roundRect">
            <a:avLst>
              <a:gd name="adj" fmla="val 4348"/>
            </a:avLst>
          </a:prstGeom>
          <a:solidFill>
            <a:schemeClr val="bg2"/>
          </a:solidFill>
          <a:ln/>
        </p:spPr>
      </p:sp>
      <p:sp>
        <p:nvSpPr>
          <p:cNvPr id="25" name="Text 23"/>
          <p:cNvSpPr txBox="1"/>
          <p:nvPr/>
        </p:nvSpPr>
        <p:spPr>
          <a:xfrm>
            <a:off x="9226296" y="4160520"/>
            <a:ext cx="2103120" cy="64008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08</a:t>
            </a:r>
            <a:endParaRPr lang="en-US" sz="3600" dirty="0"/>
          </a:p>
        </p:txBody>
      </p:sp>
      <p:sp>
        <p:nvSpPr>
          <p:cNvPr id="26" name="Text 24"/>
          <p:cNvSpPr txBox="1"/>
          <p:nvPr/>
        </p:nvSpPr>
        <p:spPr>
          <a:xfrm>
            <a:off x="9226296" y="4937760"/>
            <a:ext cx="2194560" cy="914400"/>
          </a:xfrm>
          <a:prstGeom prst="rect">
            <a:avLst/>
          </a:prstGeom>
          <a:noFill/>
          <a:ln/>
        </p:spPr>
        <p:txBody>
          <a:bodyPr wrap="square" lIns="0" tIns="0" rIns="0" bIns="0" rtlCol="0" anchor="t"/>
          <a:lstStyle/>
          <a:p>
            <a:pPr indent="0" marL="0">
              <a:buNone/>
            </a:pPr>
            <a:r>
              <a:rPr lang="en-US" sz="1800" b="1" dirty="0">
                <a:solidFill>
                  <a:schemeClr val="tx1"/>
                </a:solidFill>
              </a:rPr>
              <a:t>Future Scope</a:t>
            </a:r>
            <a:endParaRPr lang="en-US" sz="1400" dirty="0"/>
          </a:p>
          <a:p>
            <a:pPr indent="0" marL="0">
              <a:buNone/>
            </a:pPr>
            <a:r>
              <a:rPr lang="en-US" sz="1400" dirty="0">
                <a:solidFill>
                  <a:schemeClr val="accent5"/>
                </a:solidFill>
              </a:rPr>
              <a:t>Roadmap and conclusion</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The Problem: Silent Process Failure</a:t>
            </a:r>
            <a:endParaRPr lang="en-US" sz="3600" dirty="0"/>
          </a:p>
        </p:txBody>
      </p:sp>
      <p:sp>
        <p:nvSpPr>
          <p:cNvPr id="3" name="Problem card"/>
          <p:cNvSpPr/>
          <p:nvPr/>
        </p:nvSpPr>
        <p:spPr>
          <a:xfrm>
            <a:off x="548640" y="1463040"/>
            <a:ext cx="5212080" cy="4663440"/>
          </a:xfrm>
          <a:prstGeom prst="roundRect">
            <a:avLst>
              <a:gd name="adj" fmla="val 1961"/>
            </a:avLst>
          </a:prstGeom>
          <a:solidFill>
            <a:schemeClr val="bg2"/>
          </a:solidFill>
          <a:ln/>
        </p:spPr>
      </p:sp>
      <p:sp>
        <p:nvSpPr>
          <p:cNvPr id="4" name="Text 2"/>
          <p:cNvSpPr txBox="1"/>
          <p:nvPr/>
        </p:nvSpPr>
        <p:spPr>
          <a:xfrm>
            <a:off x="868680" y="1737360"/>
            <a:ext cx="4572000" cy="365760"/>
          </a:xfrm>
          <a:prstGeom prst="rect">
            <a:avLst/>
          </a:prstGeom>
          <a:noFill/>
          <a:ln/>
        </p:spPr>
        <p:txBody>
          <a:bodyPr wrap="square" lIns="0" tIns="0" rIns="0" bIns="0" rtlCol="0" anchor="t"/>
          <a:lstStyle/>
          <a:p>
            <a:pPr indent="0" marL="0">
              <a:buNone/>
            </a:pPr>
            <a:r>
              <a:rPr lang="en-US" sz="2200" b="1" dirty="0">
                <a:solidFill>
                  <a:schemeClr val="accent1"/>
                </a:solidFill>
              </a:rPr>
              <a:t>What goes wrong</a:t>
            </a:r>
            <a:endParaRPr lang="en-US" sz="2200" dirty="0"/>
          </a:p>
        </p:txBody>
      </p:sp>
      <p:sp>
        <p:nvSpPr>
          <p:cNvPr id="5" name="Text 3"/>
          <p:cNvSpPr txBox="1"/>
          <p:nvPr/>
        </p:nvSpPr>
        <p:spPr>
          <a:xfrm>
            <a:off x="868680" y="2240280"/>
            <a:ext cx="4572000" cy="1737360"/>
          </a:xfrm>
          <a:prstGeom prst="rect">
            <a:avLst/>
          </a:prstGeom>
          <a:noFill/>
          <a:ln/>
        </p:spPr>
        <p:txBody>
          <a:bodyPr wrap="square" lIns="0" tIns="0" rIns="0" bIns="0" rtlCol="0" anchor="t"/>
          <a:lstStyle/>
          <a:p>
            <a:pPr indent="0" marL="0">
              <a:buNone/>
            </a:pPr>
            <a:r>
              <a:rPr lang="en-US" sz="1600" dirty="0">
                <a:solidFill>
                  <a:schemeClr val="tx1"/>
                </a:solidFill>
              </a:rPr>
              <a:t>Long-running services can terminate without warning. Without a watchdog the service stays down until an administrator notices, restarts it by hand and works out what happened. Nexus detects the failure, restarts the process and keeps a record.</a:t>
            </a:r>
            <a:endParaRPr lang="en-US" sz="1600" dirty="0"/>
          </a:p>
        </p:txBody>
      </p:sp>
      <p:sp>
        <p:nvSpPr>
          <p:cNvPr id="6" name="Downtime circle"/>
          <p:cNvSpPr/>
          <p:nvPr/>
        </p:nvSpPr>
        <p:spPr>
          <a:xfrm>
            <a:off x="868680" y="4160520"/>
            <a:ext cx="457200" cy="457200"/>
          </a:xfrm>
          <a:prstGeom prst="ellipse">
            <a:avLst/>
          </a:prstGeom>
          <a:solidFill>
            <a:schemeClr val="accent4"/>
          </a:solidFill>
          <a:ln/>
        </p:spPr>
      </p:sp>
      <p:pic>
        <p:nvPicPr>
          <p:cNvPr id="7" name="Image 0" descr="Downtime">    </p:cNvPr>
          <p:cNvPicPr>
            <a:picLocks noChangeAspect="1"/>
          </p:cNvPicPr>
          <p:nvPr/>
        </p:nvPicPr>
        <p:blipFill>
          <a:blip r:embed="rId1"/>
          <a:stretch>
            <a:fillRect/>
          </a:stretch>
        </p:blipFill>
        <p:spPr>
          <a:xfrm>
            <a:off x="996696" y="4288536"/>
            <a:ext cx="201168" cy="201168"/>
          </a:xfrm>
          <a:prstGeom prst="rect">
            <a:avLst/>
          </a:prstGeom>
        </p:spPr>
      </p:pic>
      <p:sp>
        <p:nvSpPr>
          <p:cNvPr id="8" name="Text 5"/>
          <p:cNvSpPr txBox="1"/>
          <p:nvPr/>
        </p:nvSpPr>
        <p:spPr>
          <a:xfrm>
            <a:off x="1508760" y="4160520"/>
            <a:ext cx="3657600" cy="457200"/>
          </a:xfrm>
          <a:prstGeom prst="rect">
            <a:avLst/>
          </a:prstGeom>
          <a:noFill/>
          <a:ln/>
        </p:spPr>
        <p:txBody>
          <a:bodyPr wrap="square" lIns="0" tIns="0" rIns="0" bIns="0" rtlCol="0" anchor="ctr"/>
          <a:lstStyle/>
          <a:p>
            <a:pPr indent="0" marL="0">
              <a:buNone/>
            </a:pPr>
            <a:r>
              <a:rPr lang="en-US" sz="1600" b="1" dirty="0">
                <a:solidFill>
                  <a:schemeClr val="tx1"/>
                </a:solidFill>
              </a:rPr>
              <a:t>Downtime</a:t>
            </a:r>
            <a:endParaRPr lang="en-US" sz="1600" dirty="0"/>
          </a:p>
        </p:txBody>
      </p:sp>
      <p:sp>
        <p:nvSpPr>
          <p:cNvPr id="9" name="Manual effort circle"/>
          <p:cNvSpPr/>
          <p:nvPr/>
        </p:nvSpPr>
        <p:spPr>
          <a:xfrm>
            <a:off x="868680" y="4782312"/>
            <a:ext cx="457200" cy="457200"/>
          </a:xfrm>
          <a:prstGeom prst="ellipse">
            <a:avLst/>
          </a:prstGeom>
          <a:solidFill>
            <a:schemeClr val="accent2"/>
          </a:solidFill>
          <a:ln/>
        </p:spPr>
      </p:sp>
      <p:pic>
        <p:nvPicPr>
          <p:cNvPr id="10" name="Image 1" descr="Manual effort">    </p:cNvPr>
          <p:cNvPicPr>
            <a:picLocks noChangeAspect="1"/>
          </p:cNvPicPr>
          <p:nvPr/>
        </p:nvPicPr>
        <p:blipFill>
          <a:blip r:embed="rId2"/>
          <a:stretch>
            <a:fillRect/>
          </a:stretch>
        </p:blipFill>
        <p:spPr>
          <a:xfrm>
            <a:off x="996696" y="4910328"/>
            <a:ext cx="201168" cy="201168"/>
          </a:xfrm>
          <a:prstGeom prst="rect">
            <a:avLst/>
          </a:prstGeom>
        </p:spPr>
      </p:pic>
      <p:sp>
        <p:nvSpPr>
          <p:cNvPr id="11" name="Text 7"/>
          <p:cNvSpPr txBox="1"/>
          <p:nvPr/>
        </p:nvSpPr>
        <p:spPr>
          <a:xfrm>
            <a:off x="1508760" y="4782312"/>
            <a:ext cx="3657600" cy="457200"/>
          </a:xfrm>
          <a:prstGeom prst="rect">
            <a:avLst/>
          </a:prstGeom>
          <a:noFill/>
          <a:ln/>
        </p:spPr>
        <p:txBody>
          <a:bodyPr wrap="square" lIns="0" tIns="0" rIns="0" bIns="0" rtlCol="0" anchor="ctr"/>
          <a:lstStyle/>
          <a:p>
            <a:pPr indent="0" marL="0">
              <a:buNone/>
            </a:pPr>
            <a:r>
              <a:rPr lang="en-US" sz="1600" b="1" dirty="0">
                <a:solidFill>
                  <a:schemeClr val="tx1"/>
                </a:solidFill>
              </a:rPr>
              <a:t>Manual effort</a:t>
            </a:r>
            <a:endParaRPr lang="en-US" sz="1600" dirty="0"/>
          </a:p>
        </p:txBody>
      </p:sp>
      <p:sp>
        <p:nvSpPr>
          <p:cNvPr id="12" name="Data loss risk circle"/>
          <p:cNvSpPr/>
          <p:nvPr/>
        </p:nvSpPr>
        <p:spPr>
          <a:xfrm>
            <a:off x="868680" y="5404104"/>
            <a:ext cx="457200" cy="457200"/>
          </a:xfrm>
          <a:prstGeom prst="ellipse">
            <a:avLst/>
          </a:prstGeom>
          <a:solidFill>
            <a:schemeClr val="accent3"/>
          </a:solidFill>
          <a:ln/>
        </p:spPr>
      </p:sp>
      <p:pic>
        <p:nvPicPr>
          <p:cNvPr id="13" name="Image 2" descr="Data loss risk">    </p:cNvPr>
          <p:cNvPicPr>
            <a:picLocks noChangeAspect="1"/>
          </p:cNvPicPr>
          <p:nvPr/>
        </p:nvPicPr>
        <p:blipFill>
          <a:blip r:embed="rId3"/>
          <a:stretch>
            <a:fillRect/>
          </a:stretch>
        </p:blipFill>
        <p:spPr>
          <a:xfrm>
            <a:off x="996696" y="5532120"/>
            <a:ext cx="201168" cy="201168"/>
          </a:xfrm>
          <a:prstGeom prst="rect">
            <a:avLst/>
          </a:prstGeom>
        </p:spPr>
      </p:pic>
      <p:sp>
        <p:nvSpPr>
          <p:cNvPr id="14" name="Text 9"/>
          <p:cNvSpPr txBox="1"/>
          <p:nvPr/>
        </p:nvSpPr>
        <p:spPr>
          <a:xfrm>
            <a:off x="1508760" y="5404104"/>
            <a:ext cx="3657600" cy="457200"/>
          </a:xfrm>
          <a:prstGeom prst="rect">
            <a:avLst/>
          </a:prstGeom>
          <a:noFill/>
          <a:ln/>
        </p:spPr>
        <p:txBody>
          <a:bodyPr wrap="square" lIns="0" tIns="0" rIns="0" bIns="0" rtlCol="0" anchor="ctr"/>
          <a:lstStyle/>
          <a:p>
            <a:pPr indent="0" marL="0">
              <a:buNone/>
            </a:pPr>
            <a:r>
              <a:rPr lang="en-US" sz="1600" b="1" dirty="0">
                <a:solidFill>
                  <a:schemeClr val="tx1"/>
                </a:solidFill>
              </a:rPr>
              <a:t>No record of cause</a:t>
            </a:r>
            <a:endParaRPr lang="en-US" sz="1600" dirty="0"/>
          </a:p>
        </p:txBody>
      </p:sp>
      <p:sp>
        <p:nvSpPr>
          <p:cNvPr id="15" name="Text 10"/>
          <p:cNvSpPr txBox="1"/>
          <p:nvPr/>
        </p:nvSpPr>
        <p:spPr>
          <a:xfrm>
            <a:off x="6217920" y="1463040"/>
            <a:ext cx="5394960" cy="365760"/>
          </a:xfrm>
          <a:prstGeom prst="rect">
            <a:avLst/>
          </a:prstGeom>
          <a:noFill/>
          <a:ln/>
        </p:spPr>
        <p:txBody>
          <a:bodyPr wrap="square" lIns="0" tIns="0" rIns="0" bIns="0" rtlCol="0" anchor="t"/>
          <a:lstStyle/>
          <a:p>
            <a:pPr indent="0" marL="0">
              <a:buNone/>
            </a:pPr>
            <a:r>
              <a:rPr lang="en-US" sz="2000" b="1" dirty="0">
                <a:solidFill>
                  <a:schemeClr val="tx1"/>
                </a:solidFill>
              </a:rPr>
              <a:t>Common causes of unexpected termination</a:t>
            </a:r>
            <a:endParaRPr lang="en-US" sz="2000" dirty="0"/>
          </a:p>
        </p:txBody>
      </p:sp>
      <p:sp>
        <p:nvSpPr>
          <p:cNvPr id="16" name="Out-of-memory (OOM) kill circle"/>
          <p:cNvSpPr/>
          <p:nvPr/>
        </p:nvSpPr>
        <p:spPr>
          <a:xfrm>
            <a:off x="6217920" y="2057400"/>
            <a:ext cx="548640" cy="548640"/>
          </a:xfrm>
          <a:prstGeom prst="ellipse">
            <a:avLst/>
          </a:prstGeom>
          <a:solidFill>
            <a:schemeClr val="accent1"/>
          </a:solidFill>
          <a:ln/>
        </p:spPr>
      </p:sp>
      <p:pic>
        <p:nvPicPr>
          <p:cNvPr id="17" name="Image 3" descr="Out-of-memory (OOM) kill">    </p:cNvPr>
          <p:cNvPicPr>
            <a:picLocks noChangeAspect="1"/>
          </p:cNvPicPr>
          <p:nvPr/>
        </p:nvPicPr>
        <p:blipFill>
          <a:blip r:embed="rId4"/>
          <a:stretch>
            <a:fillRect/>
          </a:stretch>
        </p:blipFill>
        <p:spPr>
          <a:xfrm>
            <a:off x="6371539" y="2211019"/>
            <a:ext cx="241402" cy="241402"/>
          </a:xfrm>
          <a:prstGeom prst="rect">
            <a:avLst/>
          </a:prstGeom>
        </p:spPr>
      </p:pic>
      <p:sp>
        <p:nvSpPr>
          <p:cNvPr id="18" name="Text 12"/>
          <p:cNvSpPr txBox="1"/>
          <p:nvPr/>
        </p:nvSpPr>
        <p:spPr>
          <a:xfrm>
            <a:off x="6949440" y="1965960"/>
            <a:ext cx="4663440" cy="731520"/>
          </a:xfrm>
          <a:prstGeom prst="rect">
            <a:avLst/>
          </a:prstGeom>
          <a:noFill/>
          <a:ln/>
        </p:spPr>
        <p:txBody>
          <a:bodyPr wrap="square" lIns="0" tIns="0" rIns="0" bIns="0" rtlCol="0" anchor="ctr"/>
          <a:lstStyle/>
          <a:p>
            <a:pPr indent="0" marL="0">
              <a:buNone/>
            </a:pPr>
            <a:r>
              <a:rPr lang="en-US" sz="1600" b="1" dirty="0">
                <a:solidFill>
                  <a:schemeClr val="tx1"/>
                </a:solidFill>
              </a:rPr>
              <a:t>Out-of-memory (OOM) kill</a:t>
            </a:r>
            <a:endParaRPr lang="en-US" sz="1400" dirty="0"/>
          </a:p>
          <a:p>
            <a:pPr indent="0" marL="0">
              <a:buNone/>
            </a:pPr>
            <a:r>
              <a:rPr lang="en-US" sz="1400" dirty="0">
                <a:solidFill>
                  <a:schemeClr val="accent5"/>
                </a:solidFill>
              </a:rPr>
              <a:t>Kernel sends SIGKILL to reclaim memory</a:t>
            </a:r>
            <a:endParaRPr lang="en-US" sz="1400" dirty="0"/>
          </a:p>
        </p:txBody>
      </p:sp>
      <p:sp>
        <p:nvSpPr>
          <p:cNvPr id="19" name="Segmentation fault circle"/>
          <p:cNvSpPr/>
          <p:nvPr/>
        </p:nvSpPr>
        <p:spPr>
          <a:xfrm>
            <a:off x="6217920" y="2898648"/>
            <a:ext cx="548640" cy="548640"/>
          </a:xfrm>
          <a:prstGeom prst="ellipse">
            <a:avLst/>
          </a:prstGeom>
          <a:solidFill>
            <a:schemeClr val="accent1"/>
          </a:solidFill>
          <a:ln/>
        </p:spPr>
      </p:sp>
      <p:pic>
        <p:nvPicPr>
          <p:cNvPr id="20" name="Image 4" descr="Segmentation fault">    </p:cNvPr>
          <p:cNvPicPr>
            <a:picLocks noChangeAspect="1"/>
          </p:cNvPicPr>
          <p:nvPr/>
        </p:nvPicPr>
        <p:blipFill>
          <a:blip r:embed="rId5"/>
          <a:stretch>
            <a:fillRect/>
          </a:stretch>
        </p:blipFill>
        <p:spPr>
          <a:xfrm>
            <a:off x="6371539" y="3052267"/>
            <a:ext cx="241402" cy="241402"/>
          </a:xfrm>
          <a:prstGeom prst="rect">
            <a:avLst/>
          </a:prstGeom>
        </p:spPr>
      </p:pic>
      <p:sp>
        <p:nvSpPr>
          <p:cNvPr id="21" name="Text 14"/>
          <p:cNvSpPr txBox="1"/>
          <p:nvPr/>
        </p:nvSpPr>
        <p:spPr>
          <a:xfrm>
            <a:off x="6949440" y="2807208"/>
            <a:ext cx="4663440" cy="731520"/>
          </a:xfrm>
          <a:prstGeom prst="rect">
            <a:avLst/>
          </a:prstGeom>
          <a:noFill/>
          <a:ln/>
        </p:spPr>
        <p:txBody>
          <a:bodyPr wrap="square" lIns="0" tIns="0" rIns="0" bIns="0" rtlCol="0" anchor="ctr"/>
          <a:lstStyle/>
          <a:p>
            <a:pPr indent="0" marL="0">
              <a:buNone/>
            </a:pPr>
            <a:r>
              <a:rPr lang="en-US" sz="1600" b="1" dirty="0">
                <a:solidFill>
                  <a:schemeClr val="tx1"/>
                </a:solidFill>
              </a:rPr>
              <a:t>Segmentation fault</a:t>
            </a:r>
            <a:endParaRPr lang="en-US" sz="1400" dirty="0"/>
          </a:p>
          <a:p>
            <a:pPr indent="0" marL="0">
              <a:buNone/>
            </a:pPr>
            <a:r>
              <a:rPr lang="en-US" sz="1400" dirty="0">
                <a:solidFill>
                  <a:schemeClr val="accent5"/>
                </a:solidFill>
              </a:rPr>
              <a:t>Invalid memory access raises SIGSEGV</a:t>
            </a:r>
            <a:endParaRPr lang="en-US" sz="1400" dirty="0"/>
          </a:p>
        </p:txBody>
      </p:sp>
      <p:sp>
        <p:nvSpPr>
          <p:cNvPr id="22" name="Unhandled exception circle"/>
          <p:cNvSpPr/>
          <p:nvPr/>
        </p:nvSpPr>
        <p:spPr>
          <a:xfrm>
            <a:off x="6217920" y="3739896"/>
            <a:ext cx="548640" cy="548640"/>
          </a:xfrm>
          <a:prstGeom prst="ellipse">
            <a:avLst/>
          </a:prstGeom>
          <a:solidFill>
            <a:schemeClr val="accent1"/>
          </a:solidFill>
          <a:ln/>
        </p:spPr>
      </p:sp>
      <p:pic>
        <p:nvPicPr>
          <p:cNvPr id="23" name="Image 5" descr="Unhandled exception">    </p:cNvPr>
          <p:cNvPicPr>
            <a:picLocks noChangeAspect="1"/>
          </p:cNvPicPr>
          <p:nvPr/>
        </p:nvPicPr>
        <p:blipFill>
          <a:blip r:embed="rId6"/>
          <a:stretch>
            <a:fillRect/>
          </a:stretch>
        </p:blipFill>
        <p:spPr>
          <a:xfrm>
            <a:off x="6371539" y="3893515"/>
            <a:ext cx="241402" cy="241402"/>
          </a:xfrm>
          <a:prstGeom prst="rect">
            <a:avLst/>
          </a:prstGeom>
        </p:spPr>
      </p:pic>
      <p:sp>
        <p:nvSpPr>
          <p:cNvPr id="24" name="Text 16"/>
          <p:cNvSpPr txBox="1"/>
          <p:nvPr/>
        </p:nvSpPr>
        <p:spPr>
          <a:xfrm>
            <a:off x="6949440" y="3648456"/>
            <a:ext cx="4663440" cy="731520"/>
          </a:xfrm>
          <a:prstGeom prst="rect">
            <a:avLst/>
          </a:prstGeom>
          <a:noFill/>
          <a:ln/>
        </p:spPr>
        <p:txBody>
          <a:bodyPr wrap="square" lIns="0" tIns="0" rIns="0" bIns="0" rtlCol="0" anchor="ctr"/>
          <a:lstStyle/>
          <a:p>
            <a:pPr indent="0" marL="0">
              <a:buNone/>
            </a:pPr>
            <a:r>
              <a:rPr lang="en-US" sz="1600" b="1" dirty="0">
                <a:solidFill>
                  <a:schemeClr val="tx1"/>
                </a:solidFill>
              </a:rPr>
              <a:t>Unhandled exception</a:t>
            </a:r>
            <a:endParaRPr lang="en-US" sz="1400" dirty="0"/>
          </a:p>
          <a:p>
            <a:pPr indent="0" marL="0">
              <a:buNone/>
            </a:pPr>
            <a:r>
              <a:rPr lang="en-US" sz="1400" dirty="0">
                <a:solidFill>
                  <a:schemeClr val="accent5"/>
                </a:solidFill>
              </a:rPr>
              <a:t>Application bug exits the process</a:t>
            </a:r>
            <a:endParaRPr lang="en-US" sz="1400" dirty="0"/>
          </a:p>
        </p:txBody>
      </p:sp>
      <p:sp>
        <p:nvSpPr>
          <p:cNvPr id="25" name="Resource exhaustion circle"/>
          <p:cNvSpPr/>
          <p:nvPr/>
        </p:nvSpPr>
        <p:spPr>
          <a:xfrm>
            <a:off x="6217920" y="4581144"/>
            <a:ext cx="548640" cy="548640"/>
          </a:xfrm>
          <a:prstGeom prst="ellipse">
            <a:avLst/>
          </a:prstGeom>
          <a:solidFill>
            <a:schemeClr val="accent1"/>
          </a:solidFill>
          <a:ln/>
        </p:spPr>
      </p:sp>
      <p:pic>
        <p:nvPicPr>
          <p:cNvPr id="26" name="Image 6" descr="Resource exhaustion">    </p:cNvPr>
          <p:cNvPicPr>
            <a:picLocks noChangeAspect="1"/>
          </p:cNvPicPr>
          <p:nvPr/>
        </p:nvPicPr>
        <p:blipFill>
          <a:blip r:embed="rId7"/>
          <a:stretch>
            <a:fillRect/>
          </a:stretch>
        </p:blipFill>
        <p:spPr>
          <a:xfrm>
            <a:off x="6371539" y="4734763"/>
            <a:ext cx="241402" cy="241402"/>
          </a:xfrm>
          <a:prstGeom prst="rect">
            <a:avLst/>
          </a:prstGeom>
        </p:spPr>
      </p:pic>
      <p:sp>
        <p:nvSpPr>
          <p:cNvPr id="27" name="Text 18"/>
          <p:cNvSpPr txBox="1"/>
          <p:nvPr/>
        </p:nvSpPr>
        <p:spPr>
          <a:xfrm>
            <a:off x="6949440" y="4489704"/>
            <a:ext cx="4663440" cy="731520"/>
          </a:xfrm>
          <a:prstGeom prst="rect">
            <a:avLst/>
          </a:prstGeom>
          <a:noFill/>
          <a:ln/>
        </p:spPr>
        <p:txBody>
          <a:bodyPr wrap="square" lIns="0" tIns="0" rIns="0" bIns="0" rtlCol="0" anchor="ctr"/>
          <a:lstStyle/>
          <a:p>
            <a:pPr indent="0" marL="0">
              <a:buNone/>
            </a:pPr>
            <a:r>
              <a:rPr lang="en-US" sz="1600" b="1" dirty="0">
                <a:solidFill>
                  <a:schemeClr val="tx1"/>
                </a:solidFill>
              </a:rPr>
              <a:t>Resource exhaustion</a:t>
            </a:r>
            <a:endParaRPr lang="en-US" sz="1400" dirty="0"/>
          </a:p>
          <a:p>
            <a:pPr indent="0" marL="0">
              <a:buNone/>
            </a:pPr>
            <a:r>
              <a:rPr lang="en-US" sz="1400" dirty="0">
                <a:solidFill>
                  <a:schemeClr val="accent5"/>
                </a:solidFill>
              </a:rPr>
              <a:t>File descriptors, CPU or disk limits hit</a:t>
            </a:r>
            <a:endParaRPr lang="en-US" sz="1400" dirty="0"/>
          </a:p>
        </p:txBody>
      </p:sp>
      <p:sp>
        <p:nvSpPr>
          <p:cNvPr id="28" name="Accidental or external kill circle"/>
          <p:cNvSpPr/>
          <p:nvPr/>
        </p:nvSpPr>
        <p:spPr>
          <a:xfrm>
            <a:off x="6217920" y="5422392"/>
            <a:ext cx="548640" cy="548640"/>
          </a:xfrm>
          <a:prstGeom prst="ellipse">
            <a:avLst/>
          </a:prstGeom>
          <a:solidFill>
            <a:schemeClr val="accent1"/>
          </a:solidFill>
          <a:ln/>
        </p:spPr>
      </p:sp>
      <p:pic>
        <p:nvPicPr>
          <p:cNvPr id="29" name="Image 7" descr="Accidental or external kill">    </p:cNvPr>
          <p:cNvPicPr>
            <a:picLocks noChangeAspect="1"/>
          </p:cNvPicPr>
          <p:nvPr/>
        </p:nvPicPr>
        <p:blipFill>
          <a:blip r:embed="rId8"/>
          <a:stretch>
            <a:fillRect/>
          </a:stretch>
        </p:blipFill>
        <p:spPr>
          <a:xfrm>
            <a:off x="6371539" y="5576011"/>
            <a:ext cx="241402" cy="241402"/>
          </a:xfrm>
          <a:prstGeom prst="rect">
            <a:avLst/>
          </a:prstGeom>
        </p:spPr>
      </p:pic>
      <p:sp>
        <p:nvSpPr>
          <p:cNvPr id="30" name="Text 20"/>
          <p:cNvSpPr txBox="1"/>
          <p:nvPr/>
        </p:nvSpPr>
        <p:spPr>
          <a:xfrm>
            <a:off x="6949440" y="5330952"/>
            <a:ext cx="4663440" cy="731520"/>
          </a:xfrm>
          <a:prstGeom prst="rect">
            <a:avLst/>
          </a:prstGeom>
          <a:noFill/>
          <a:ln/>
        </p:spPr>
        <p:txBody>
          <a:bodyPr wrap="square" lIns="0" tIns="0" rIns="0" bIns="0" rtlCol="0" anchor="ctr"/>
          <a:lstStyle/>
          <a:p>
            <a:pPr indent="0" marL="0">
              <a:buNone/>
            </a:pPr>
            <a:r>
              <a:rPr lang="en-US" sz="1600" b="1" dirty="0">
                <a:solidFill>
                  <a:schemeClr val="tx1"/>
                </a:solidFill>
              </a:rPr>
              <a:t>Accidental or external kill</a:t>
            </a:r>
            <a:endParaRPr lang="en-US" sz="1400" dirty="0"/>
          </a:p>
          <a:p>
            <a:pPr indent="0" marL="0">
              <a:buNone/>
            </a:pPr>
            <a:r>
              <a:rPr lang="en-US" sz="1400" dirty="0">
                <a:solidFill>
                  <a:schemeClr val="accent5"/>
                </a:solidFill>
              </a:rPr>
              <a:t>Wrong kill command or script error</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Project Objectives</a:t>
            </a:r>
            <a:endParaRPr lang="en-US" sz="3600" dirty="0"/>
          </a:p>
        </p:txBody>
      </p:sp>
      <p:sp>
        <p:nvSpPr>
          <p:cNvPr id="3" name="Objective 1"/>
          <p:cNvSpPr/>
          <p:nvPr/>
        </p:nvSpPr>
        <p:spPr>
          <a:xfrm>
            <a:off x="548640" y="1554480"/>
            <a:ext cx="3566160" cy="2148840"/>
          </a:xfrm>
          <a:prstGeom prst="roundRect">
            <a:avLst>
              <a:gd name="adj" fmla="val 4255"/>
            </a:avLst>
          </a:prstGeom>
          <a:solidFill>
            <a:schemeClr val="bg2"/>
          </a:solidFill>
          <a:ln/>
        </p:spPr>
      </p:sp>
      <p:sp>
        <p:nvSpPr>
          <p:cNvPr id="4" name="Continuous monitoring circle"/>
          <p:cNvSpPr/>
          <p:nvPr/>
        </p:nvSpPr>
        <p:spPr>
          <a:xfrm>
            <a:off x="822960" y="1828800"/>
            <a:ext cx="640080" cy="640080"/>
          </a:xfrm>
          <a:prstGeom prst="ellipse">
            <a:avLst/>
          </a:prstGeom>
          <a:solidFill>
            <a:schemeClr val="accent1"/>
          </a:solidFill>
          <a:ln/>
        </p:spPr>
      </p:sp>
      <p:pic>
        <p:nvPicPr>
          <p:cNvPr id="5" name="Image 0" descr="Continuous monitoring">    </p:cNvPr>
          <p:cNvPicPr>
            <a:picLocks noChangeAspect="1"/>
          </p:cNvPicPr>
          <p:nvPr/>
        </p:nvPicPr>
        <p:blipFill>
          <a:blip r:embed="rId1"/>
          <a:stretch>
            <a:fillRect/>
          </a:stretch>
        </p:blipFill>
        <p:spPr>
          <a:xfrm>
            <a:off x="1002182" y="2008022"/>
            <a:ext cx="281635" cy="281635"/>
          </a:xfrm>
          <a:prstGeom prst="rect">
            <a:avLst/>
          </a:prstGeom>
        </p:spPr>
      </p:pic>
      <p:sp>
        <p:nvSpPr>
          <p:cNvPr id="6" name="Text 3"/>
          <p:cNvSpPr txBox="1"/>
          <p:nvPr/>
        </p:nvSpPr>
        <p:spPr>
          <a:xfrm>
            <a:off x="822960" y="2651760"/>
            <a:ext cx="3063240" cy="914400"/>
          </a:xfrm>
          <a:prstGeom prst="rect">
            <a:avLst/>
          </a:prstGeom>
          <a:noFill/>
          <a:ln/>
        </p:spPr>
        <p:txBody>
          <a:bodyPr wrap="square" lIns="0" tIns="0" rIns="0" bIns="0" rtlCol="0" anchor="t"/>
          <a:lstStyle/>
          <a:p>
            <a:pPr indent="0" marL="0">
              <a:buNone/>
            </a:pPr>
            <a:r>
              <a:rPr lang="en-US" sz="1800" b="1" dirty="0">
                <a:solidFill>
                  <a:schemeClr val="tx1"/>
                </a:solidFill>
              </a:rPr>
              <a:t>Continuous monitoring</a:t>
            </a:r>
            <a:endParaRPr lang="en-US" sz="1400" dirty="0"/>
          </a:p>
          <a:p>
            <a:pPr indent="0" marL="0">
              <a:buNone/>
            </a:pPr>
            <a:r>
              <a:rPr lang="en-US" sz="1400" dirty="0">
                <a:solidFill>
                  <a:schemeClr val="accent5"/>
                </a:solidFill>
              </a:rPr>
              <a:t>Background agent polls registered processes (default 5 s)</a:t>
            </a:r>
            <a:endParaRPr lang="en-US" sz="1400" dirty="0"/>
          </a:p>
        </p:txBody>
      </p:sp>
      <p:sp>
        <p:nvSpPr>
          <p:cNvPr id="7" name="Objective 2"/>
          <p:cNvSpPr/>
          <p:nvPr/>
        </p:nvSpPr>
        <p:spPr>
          <a:xfrm>
            <a:off x="4297680" y="1554480"/>
            <a:ext cx="3566160" cy="2148840"/>
          </a:xfrm>
          <a:prstGeom prst="roundRect">
            <a:avLst>
              <a:gd name="adj" fmla="val 4255"/>
            </a:avLst>
          </a:prstGeom>
          <a:solidFill>
            <a:schemeClr val="bg2"/>
          </a:solidFill>
          <a:ln/>
        </p:spPr>
      </p:sp>
      <p:sp>
        <p:nvSpPr>
          <p:cNvPr id="8" name="Detect termination circle"/>
          <p:cNvSpPr/>
          <p:nvPr/>
        </p:nvSpPr>
        <p:spPr>
          <a:xfrm>
            <a:off x="4572000" y="1828800"/>
            <a:ext cx="640080" cy="640080"/>
          </a:xfrm>
          <a:prstGeom prst="ellipse">
            <a:avLst/>
          </a:prstGeom>
          <a:solidFill>
            <a:schemeClr val="accent1"/>
          </a:solidFill>
          <a:ln/>
        </p:spPr>
      </p:sp>
      <p:pic>
        <p:nvPicPr>
          <p:cNvPr id="9" name="Image 1" descr="Detect termination">    </p:cNvPr>
          <p:cNvPicPr>
            <a:picLocks noChangeAspect="1"/>
          </p:cNvPicPr>
          <p:nvPr/>
        </p:nvPicPr>
        <p:blipFill>
          <a:blip r:embed="rId2"/>
          <a:stretch>
            <a:fillRect/>
          </a:stretch>
        </p:blipFill>
        <p:spPr>
          <a:xfrm>
            <a:off x="4751222" y="2008022"/>
            <a:ext cx="281635" cy="281635"/>
          </a:xfrm>
          <a:prstGeom prst="rect">
            <a:avLst/>
          </a:prstGeom>
        </p:spPr>
      </p:pic>
      <p:sp>
        <p:nvSpPr>
          <p:cNvPr id="10" name="Text 6"/>
          <p:cNvSpPr txBox="1"/>
          <p:nvPr/>
        </p:nvSpPr>
        <p:spPr>
          <a:xfrm>
            <a:off x="4572000" y="2651760"/>
            <a:ext cx="3063240" cy="914400"/>
          </a:xfrm>
          <a:prstGeom prst="rect">
            <a:avLst/>
          </a:prstGeom>
          <a:noFill/>
          <a:ln/>
        </p:spPr>
        <p:txBody>
          <a:bodyPr wrap="square" lIns="0" tIns="0" rIns="0" bIns="0" rtlCol="0" anchor="t"/>
          <a:lstStyle/>
          <a:p>
            <a:pPr indent="0" marL="0">
              <a:buNone/>
            </a:pPr>
            <a:r>
              <a:rPr lang="en-US" sz="1800" b="1" dirty="0">
                <a:solidFill>
                  <a:schemeClr val="tx1"/>
                </a:solidFill>
              </a:rPr>
              <a:t>Detect termination</a:t>
            </a:r>
            <a:endParaRPr lang="en-US" sz="1400" dirty="0"/>
          </a:p>
          <a:p>
            <a:pPr indent="0" marL="0">
              <a:buNone/>
            </a:pPr>
            <a:r>
              <a:rPr lang="en-US" sz="1400" dirty="0">
                <a:solidFill>
                  <a:schemeClr val="accent5"/>
                </a:solidFill>
              </a:rPr>
              <a:t>Spot kills and missing, zombie or wrong-identity processes</a:t>
            </a:r>
            <a:endParaRPr lang="en-US" sz="1400" dirty="0"/>
          </a:p>
        </p:txBody>
      </p:sp>
      <p:sp>
        <p:nvSpPr>
          <p:cNvPr id="11" name="Objective 3"/>
          <p:cNvSpPr/>
          <p:nvPr/>
        </p:nvSpPr>
        <p:spPr>
          <a:xfrm>
            <a:off x="8046720" y="1554480"/>
            <a:ext cx="3566160" cy="2148840"/>
          </a:xfrm>
          <a:prstGeom prst="roundRect">
            <a:avLst>
              <a:gd name="adj" fmla="val 4255"/>
            </a:avLst>
          </a:prstGeom>
          <a:solidFill>
            <a:schemeClr val="bg2"/>
          </a:solidFill>
          <a:ln/>
        </p:spPr>
      </p:sp>
      <p:sp>
        <p:nvSpPr>
          <p:cNvPr id="12" name="Automatic restart circle"/>
          <p:cNvSpPr/>
          <p:nvPr/>
        </p:nvSpPr>
        <p:spPr>
          <a:xfrm>
            <a:off x="8321040" y="1828800"/>
            <a:ext cx="640080" cy="640080"/>
          </a:xfrm>
          <a:prstGeom prst="ellipse">
            <a:avLst/>
          </a:prstGeom>
          <a:solidFill>
            <a:schemeClr val="accent1"/>
          </a:solidFill>
          <a:ln/>
        </p:spPr>
      </p:sp>
      <p:pic>
        <p:nvPicPr>
          <p:cNvPr id="13" name="Image 2" descr="Automatic restart">    </p:cNvPr>
          <p:cNvPicPr>
            <a:picLocks noChangeAspect="1"/>
          </p:cNvPicPr>
          <p:nvPr/>
        </p:nvPicPr>
        <p:blipFill>
          <a:blip r:embed="rId3"/>
          <a:stretch>
            <a:fillRect/>
          </a:stretch>
        </p:blipFill>
        <p:spPr>
          <a:xfrm>
            <a:off x="8500262" y="2008022"/>
            <a:ext cx="281635" cy="281635"/>
          </a:xfrm>
          <a:prstGeom prst="rect">
            <a:avLst/>
          </a:prstGeom>
        </p:spPr>
      </p:pic>
      <p:sp>
        <p:nvSpPr>
          <p:cNvPr id="14" name="Text 9"/>
          <p:cNvSpPr txBox="1"/>
          <p:nvPr/>
        </p:nvSpPr>
        <p:spPr>
          <a:xfrm>
            <a:off x="8321040" y="2651760"/>
            <a:ext cx="3063240" cy="914400"/>
          </a:xfrm>
          <a:prstGeom prst="rect">
            <a:avLst/>
          </a:prstGeom>
          <a:noFill/>
          <a:ln/>
        </p:spPr>
        <p:txBody>
          <a:bodyPr wrap="square" lIns="0" tIns="0" rIns="0" bIns="0" rtlCol="0" anchor="t"/>
          <a:lstStyle/>
          <a:p>
            <a:pPr indent="0" marL="0">
              <a:buNone/>
            </a:pPr>
            <a:r>
              <a:rPr lang="en-US" sz="1800" b="1" dirty="0">
                <a:solidFill>
                  <a:schemeClr val="tx1"/>
                </a:solidFill>
              </a:rPr>
              <a:t>Automatic restart</a:t>
            </a:r>
            <a:endParaRPr lang="en-US" sz="1400" dirty="0"/>
          </a:p>
          <a:p>
            <a:pPr indent="0" marL="0">
              <a:buNone/>
            </a:pPr>
            <a:r>
              <a:rPr lang="en-US" sz="1400" dirty="0">
                <a:solidFill>
                  <a:schemeClr val="accent5"/>
                </a:solidFill>
              </a:rPr>
              <a:t>Restart the allowlisted process with no manual action</a:t>
            </a:r>
            <a:endParaRPr lang="en-US" sz="1400" dirty="0"/>
          </a:p>
        </p:txBody>
      </p:sp>
      <p:sp>
        <p:nvSpPr>
          <p:cNvPr id="15" name="Objective 4"/>
          <p:cNvSpPr/>
          <p:nvPr/>
        </p:nvSpPr>
        <p:spPr>
          <a:xfrm>
            <a:off x="548640" y="3931920"/>
            <a:ext cx="3566160" cy="2148840"/>
          </a:xfrm>
          <a:prstGeom prst="roundRect">
            <a:avLst>
              <a:gd name="adj" fmla="val 4255"/>
            </a:avLst>
          </a:prstGeom>
          <a:solidFill>
            <a:schemeClr val="bg2"/>
          </a:solidFill>
          <a:ln/>
        </p:spPr>
      </p:sp>
      <p:sp>
        <p:nvSpPr>
          <p:cNvPr id="16" name="Prevent restart loops circle"/>
          <p:cNvSpPr/>
          <p:nvPr/>
        </p:nvSpPr>
        <p:spPr>
          <a:xfrm>
            <a:off x="822960" y="4206240"/>
            <a:ext cx="640080" cy="640080"/>
          </a:xfrm>
          <a:prstGeom prst="ellipse">
            <a:avLst/>
          </a:prstGeom>
          <a:solidFill>
            <a:schemeClr val="accent1"/>
          </a:solidFill>
          <a:ln/>
        </p:spPr>
      </p:sp>
      <p:pic>
        <p:nvPicPr>
          <p:cNvPr id="17" name="Image 3" descr="Prevent restart loops">    </p:cNvPr>
          <p:cNvPicPr>
            <a:picLocks noChangeAspect="1"/>
          </p:cNvPicPr>
          <p:nvPr/>
        </p:nvPicPr>
        <p:blipFill>
          <a:blip r:embed="rId4"/>
          <a:stretch>
            <a:fillRect/>
          </a:stretch>
        </p:blipFill>
        <p:spPr>
          <a:xfrm>
            <a:off x="1002182" y="4385462"/>
            <a:ext cx="281635" cy="281635"/>
          </a:xfrm>
          <a:prstGeom prst="rect">
            <a:avLst/>
          </a:prstGeom>
        </p:spPr>
      </p:pic>
      <p:sp>
        <p:nvSpPr>
          <p:cNvPr id="18" name="Text 12"/>
          <p:cNvSpPr txBox="1"/>
          <p:nvPr/>
        </p:nvSpPr>
        <p:spPr>
          <a:xfrm>
            <a:off x="822960" y="5029200"/>
            <a:ext cx="3063240" cy="914400"/>
          </a:xfrm>
          <a:prstGeom prst="rect">
            <a:avLst/>
          </a:prstGeom>
          <a:noFill/>
          <a:ln/>
        </p:spPr>
        <p:txBody>
          <a:bodyPr wrap="square" lIns="0" tIns="0" rIns="0" bIns="0" rtlCol="0" anchor="t"/>
          <a:lstStyle/>
          <a:p>
            <a:pPr indent="0" marL="0">
              <a:buNone/>
            </a:pPr>
            <a:r>
              <a:rPr lang="en-US" sz="1800" b="1" dirty="0">
                <a:solidFill>
                  <a:schemeClr val="tx1"/>
                </a:solidFill>
              </a:rPr>
              <a:t>Bounded restarts</a:t>
            </a:r>
            <a:endParaRPr lang="en-US" sz="1400" dirty="0"/>
          </a:p>
          <a:p>
            <a:pPr indent="0" marL="0">
              <a:buNone/>
            </a:pPr>
            <a:r>
              <a:rPr lang="en-US" sz="1400" dirty="0">
                <a:solidFill>
                  <a:schemeClr val="accent5"/>
                </a:solidFill>
              </a:rPr>
              <a:t>Per-app attempt limit and cooldown policy</a:t>
            </a:r>
            <a:endParaRPr lang="en-US" sz="1400" dirty="0"/>
          </a:p>
        </p:txBody>
      </p:sp>
      <p:sp>
        <p:nvSpPr>
          <p:cNvPr id="19" name="Objective 5"/>
          <p:cNvSpPr/>
          <p:nvPr/>
        </p:nvSpPr>
        <p:spPr>
          <a:xfrm>
            <a:off x="4297680" y="3931920"/>
            <a:ext cx="3566160" cy="2148840"/>
          </a:xfrm>
          <a:prstGeom prst="roundRect">
            <a:avLst>
              <a:gd name="adj" fmla="val 4255"/>
            </a:avLst>
          </a:prstGeom>
          <a:solidFill>
            <a:schemeClr val="bg2"/>
          </a:solidFill>
          <a:ln/>
        </p:spPr>
      </p:sp>
      <p:sp>
        <p:nvSpPr>
          <p:cNvPr id="20" name="Log and alert circle"/>
          <p:cNvSpPr/>
          <p:nvPr/>
        </p:nvSpPr>
        <p:spPr>
          <a:xfrm>
            <a:off x="4572000" y="4206240"/>
            <a:ext cx="640080" cy="640080"/>
          </a:xfrm>
          <a:prstGeom prst="ellipse">
            <a:avLst/>
          </a:prstGeom>
          <a:solidFill>
            <a:schemeClr val="accent1"/>
          </a:solidFill>
          <a:ln/>
        </p:spPr>
      </p:sp>
      <p:pic>
        <p:nvPicPr>
          <p:cNvPr id="21" name="Image 4" descr="Log and alert">    </p:cNvPr>
          <p:cNvPicPr>
            <a:picLocks noChangeAspect="1"/>
          </p:cNvPicPr>
          <p:nvPr/>
        </p:nvPicPr>
        <p:blipFill>
          <a:blip r:embed="rId5"/>
          <a:stretch>
            <a:fillRect/>
          </a:stretch>
        </p:blipFill>
        <p:spPr>
          <a:xfrm>
            <a:off x="4751222" y="4385462"/>
            <a:ext cx="281635" cy="281635"/>
          </a:xfrm>
          <a:prstGeom prst="rect">
            <a:avLst/>
          </a:prstGeom>
        </p:spPr>
      </p:pic>
      <p:sp>
        <p:nvSpPr>
          <p:cNvPr id="22" name="Text 15"/>
          <p:cNvSpPr txBox="1"/>
          <p:nvPr/>
        </p:nvSpPr>
        <p:spPr>
          <a:xfrm>
            <a:off x="4572000" y="5029200"/>
            <a:ext cx="3063240" cy="914400"/>
          </a:xfrm>
          <a:prstGeom prst="rect">
            <a:avLst/>
          </a:prstGeom>
          <a:noFill/>
          <a:ln/>
        </p:spPr>
        <p:txBody>
          <a:bodyPr wrap="square" lIns="0" tIns="0" rIns="0" bIns="0" rtlCol="0" anchor="t"/>
          <a:lstStyle/>
          <a:p>
            <a:pPr indent="0" marL="0">
              <a:buNone/>
            </a:pPr>
            <a:r>
              <a:rPr lang="en-US" sz="1800" b="1" dirty="0">
                <a:solidFill>
                  <a:schemeClr val="tx1"/>
                </a:solidFill>
              </a:rPr>
              <a:t>Log and alert</a:t>
            </a:r>
            <a:endParaRPr lang="en-US" sz="1400" dirty="0"/>
          </a:p>
          <a:p>
            <a:pPr indent="0" marL="0">
              <a:buNone/>
            </a:pPr>
            <a:r>
              <a:rPr lang="en-US" sz="1400" dirty="0">
                <a:solidFill>
                  <a:schemeClr val="accent5"/>
                </a:solidFill>
              </a:rPr>
              <a:t>Incident timeline, attempts and alerts saved in SQLite</a:t>
            </a:r>
            <a:endParaRPr lang="en-US" sz="1400" dirty="0"/>
          </a:p>
        </p:txBody>
      </p:sp>
      <p:sp>
        <p:nvSpPr>
          <p:cNvPr id="23" name="Objective 6"/>
          <p:cNvSpPr/>
          <p:nvPr/>
        </p:nvSpPr>
        <p:spPr>
          <a:xfrm>
            <a:off x="8046720" y="3931920"/>
            <a:ext cx="3566160" cy="2148840"/>
          </a:xfrm>
          <a:prstGeom prst="roundRect">
            <a:avLst>
              <a:gd name="adj" fmla="val 4255"/>
            </a:avLst>
          </a:prstGeom>
          <a:solidFill>
            <a:schemeClr val="bg2"/>
          </a:solidFill>
          <a:ln/>
        </p:spPr>
      </p:sp>
      <p:sp>
        <p:nvSpPr>
          <p:cNvPr id="24" name="Simple and configurable circle"/>
          <p:cNvSpPr/>
          <p:nvPr/>
        </p:nvSpPr>
        <p:spPr>
          <a:xfrm>
            <a:off x="8321040" y="4206240"/>
            <a:ext cx="640080" cy="640080"/>
          </a:xfrm>
          <a:prstGeom prst="ellipse">
            <a:avLst/>
          </a:prstGeom>
          <a:solidFill>
            <a:schemeClr val="accent1"/>
          </a:solidFill>
          <a:ln/>
        </p:spPr>
      </p:sp>
      <p:pic>
        <p:nvPicPr>
          <p:cNvPr id="25" name="Image 5" descr="Simple and configurable">    </p:cNvPr>
          <p:cNvPicPr>
            <a:picLocks noChangeAspect="1"/>
          </p:cNvPicPr>
          <p:nvPr/>
        </p:nvPicPr>
        <p:blipFill>
          <a:blip r:embed="rId6"/>
          <a:stretch>
            <a:fillRect/>
          </a:stretch>
        </p:blipFill>
        <p:spPr>
          <a:xfrm>
            <a:off x="8500262" y="4385462"/>
            <a:ext cx="281635" cy="281635"/>
          </a:xfrm>
          <a:prstGeom prst="rect">
            <a:avLst/>
          </a:prstGeom>
        </p:spPr>
      </p:pic>
      <p:sp>
        <p:nvSpPr>
          <p:cNvPr id="26" name="Text 18"/>
          <p:cNvSpPr txBox="1"/>
          <p:nvPr/>
        </p:nvSpPr>
        <p:spPr>
          <a:xfrm>
            <a:off x="8321040" y="5029200"/>
            <a:ext cx="3063240" cy="914400"/>
          </a:xfrm>
          <a:prstGeom prst="rect">
            <a:avLst/>
          </a:prstGeom>
          <a:noFill/>
          <a:ln/>
        </p:spPr>
        <p:txBody>
          <a:bodyPr wrap="square" lIns="0" tIns="0" rIns="0" bIns="0" rtlCol="0" anchor="t"/>
          <a:lstStyle/>
          <a:p>
            <a:pPr indent="0" marL="0">
              <a:buNone/>
            </a:pPr>
            <a:r>
              <a:rPr lang="en-US" sz="1800" b="1" dirty="0">
                <a:solidFill>
                  <a:schemeClr val="tx1"/>
                </a:solidFill>
              </a:rPr>
              <a:t>Simple and visual</a:t>
            </a:r>
            <a:endParaRPr lang="en-US" sz="1400" dirty="0"/>
          </a:p>
          <a:p>
            <a:pPr indent="0" marL="0">
              <a:buNone/>
            </a:pPr>
            <a:r>
              <a:rPr lang="en-US" sz="1400" dirty="0">
                <a:solidFill>
                  <a:schemeClr val="accent5"/>
                </a:solidFill>
              </a:rPr>
              <a:t>FastAPI + SQLite backend with a React dashboard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Process Fundamentals and Nexus Checks</a:t>
            </a:r>
            <a:endParaRPr lang="en-US" sz="3600" dirty="0"/>
          </a:p>
        </p:txBody>
      </p:sp>
      <p:sp>
        <p:nvSpPr>
          <p:cNvPr id="3" name="Process states"/>
          <p:cNvSpPr/>
          <p:nvPr/>
        </p:nvSpPr>
        <p:spPr>
          <a:xfrm>
            <a:off x="548640" y="1463040"/>
            <a:ext cx="3566160" cy="4663440"/>
          </a:xfrm>
          <a:prstGeom prst="roundRect">
            <a:avLst>
              <a:gd name="adj" fmla="val 2564"/>
            </a:avLst>
          </a:prstGeom>
          <a:solidFill>
            <a:schemeClr val="bg2"/>
          </a:solidFill>
          <a:ln/>
        </p:spPr>
      </p:sp>
      <p:sp>
        <p:nvSpPr>
          <p:cNvPr id="4" name="Process states circle"/>
          <p:cNvSpPr/>
          <p:nvPr/>
        </p:nvSpPr>
        <p:spPr>
          <a:xfrm>
            <a:off x="822960" y="1691640"/>
            <a:ext cx="548640" cy="548640"/>
          </a:xfrm>
          <a:prstGeom prst="ellipse">
            <a:avLst/>
          </a:prstGeom>
          <a:solidFill>
            <a:schemeClr val="accent1"/>
          </a:solidFill>
          <a:ln/>
        </p:spPr>
      </p:sp>
      <p:pic>
        <p:nvPicPr>
          <p:cNvPr id="5" name="Image 0" descr="Process states">    </p:cNvPr>
          <p:cNvPicPr>
            <a:picLocks noChangeAspect="1"/>
          </p:cNvPicPr>
          <p:nvPr/>
        </p:nvPicPr>
        <p:blipFill>
          <a:blip r:embed="rId1"/>
          <a:stretch>
            <a:fillRect/>
          </a:stretch>
        </p:blipFill>
        <p:spPr>
          <a:xfrm>
            <a:off x="976579" y="1845259"/>
            <a:ext cx="241402" cy="241402"/>
          </a:xfrm>
          <a:prstGeom prst="rect">
            <a:avLst/>
          </a:prstGeom>
        </p:spPr>
      </p:pic>
      <p:sp>
        <p:nvSpPr>
          <p:cNvPr id="6" name="Text 3"/>
          <p:cNvSpPr txBox="1"/>
          <p:nvPr/>
        </p:nvSpPr>
        <p:spPr>
          <a:xfrm>
            <a:off x="1554480" y="1691640"/>
            <a:ext cx="2377440" cy="548640"/>
          </a:xfrm>
          <a:prstGeom prst="rect">
            <a:avLst/>
          </a:prstGeom>
          <a:noFill/>
          <a:ln/>
        </p:spPr>
        <p:txBody>
          <a:bodyPr wrap="square" lIns="0" tIns="0" rIns="0" bIns="0" rtlCol="0" anchor="ctr"/>
          <a:lstStyle/>
          <a:p>
            <a:pPr indent="0" marL="0">
              <a:buNone/>
            </a:pPr>
            <a:r>
              <a:rPr lang="en-US" sz="2200" b="1" dirty="0">
                <a:solidFill>
                  <a:schemeClr val="tx1"/>
                </a:solidFill>
              </a:rPr>
              <a:t>Process states</a:t>
            </a:r>
            <a:endParaRPr lang="en-US" sz="2200" dirty="0"/>
          </a:p>
        </p:txBody>
      </p:sp>
      <p:sp>
        <p:nvSpPr>
          <p:cNvPr id="7" name="Text 4"/>
          <p:cNvSpPr txBox="1"/>
          <p:nvPr/>
        </p:nvSpPr>
        <p:spPr>
          <a:xfrm>
            <a:off x="822960" y="2514600"/>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a:t>
            </a:r>
            <a:endParaRPr lang="en-US" sz="1400" dirty="0"/>
          </a:p>
        </p:txBody>
      </p:sp>
      <p:sp>
        <p:nvSpPr>
          <p:cNvPr id="8" name="Text 5"/>
          <p:cNvSpPr txBox="1"/>
          <p:nvPr/>
        </p:nvSpPr>
        <p:spPr>
          <a:xfrm>
            <a:off x="1920240" y="2514600"/>
            <a:ext cx="2011680" cy="548640"/>
          </a:xfrm>
          <a:prstGeom prst="rect">
            <a:avLst/>
          </a:prstGeom>
          <a:noFill/>
          <a:ln/>
        </p:spPr>
        <p:txBody>
          <a:bodyPr wrap="square" lIns="0" tIns="0" rIns="0" bIns="0" rtlCol="0" anchor="ctr"/>
          <a:lstStyle/>
          <a:p>
            <a:pPr indent="0" marL="0">
              <a:buNone/>
            </a:pPr>
            <a:r>
              <a:rPr lang="en-US" sz="1400" dirty="0">
                <a:solidFill>
                  <a:schemeClr val="tx1"/>
                </a:solidFill>
              </a:rPr>
              <a:t>Running or runnable</a:t>
            </a:r>
            <a:endParaRPr lang="en-US" sz="1400" dirty="0"/>
          </a:p>
        </p:txBody>
      </p:sp>
      <p:sp>
        <p:nvSpPr>
          <p:cNvPr id="9" name="Text 6"/>
          <p:cNvSpPr txBox="1"/>
          <p:nvPr/>
        </p:nvSpPr>
        <p:spPr>
          <a:xfrm>
            <a:off x="822960" y="3209544"/>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a:t>
            </a:r>
            <a:endParaRPr lang="en-US" sz="1400" dirty="0"/>
          </a:p>
        </p:txBody>
      </p:sp>
      <p:sp>
        <p:nvSpPr>
          <p:cNvPr id="10" name="Text 7"/>
          <p:cNvSpPr txBox="1"/>
          <p:nvPr/>
        </p:nvSpPr>
        <p:spPr>
          <a:xfrm>
            <a:off x="1920240" y="3209544"/>
            <a:ext cx="2011680" cy="548640"/>
          </a:xfrm>
          <a:prstGeom prst="rect">
            <a:avLst/>
          </a:prstGeom>
          <a:noFill/>
          <a:ln/>
        </p:spPr>
        <p:txBody>
          <a:bodyPr wrap="square" lIns="0" tIns="0" rIns="0" bIns="0" rtlCol="0" anchor="ctr"/>
          <a:lstStyle/>
          <a:p>
            <a:pPr indent="0" marL="0">
              <a:buNone/>
            </a:pPr>
            <a:r>
              <a:rPr lang="en-US" sz="1400" dirty="0">
                <a:solidFill>
                  <a:schemeClr val="tx1"/>
                </a:solidFill>
              </a:rPr>
              <a:t>Sleeping (interruptible)</a:t>
            </a:r>
            <a:endParaRPr lang="en-US" sz="1400" dirty="0"/>
          </a:p>
        </p:txBody>
      </p:sp>
      <p:sp>
        <p:nvSpPr>
          <p:cNvPr id="11" name="Text 8"/>
          <p:cNvSpPr txBox="1"/>
          <p:nvPr/>
        </p:nvSpPr>
        <p:spPr>
          <a:xfrm>
            <a:off x="822960" y="3904488"/>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D</a:t>
            </a:r>
            <a:endParaRPr lang="en-US" sz="1400" dirty="0"/>
          </a:p>
        </p:txBody>
      </p:sp>
      <p:sp>
        <p:nvSpPr>
          <p:cNvPr id="12" name="Text 9"/>
          <p:cNvSpPr txBox="1"/>
          <p:nvPr/>
        </p:nvSpPr>
        <p:spPr>
          <a:xfrm>
            <a:off x="1920240" y="3904488"/>
            <a:ext cx="2011680" cy="548640"/>
          </a:xfrm>
          <a:prstGeom prst="rect">
            <a:avLst/>
          </a:prstGeom>
          <a:noFill/>
          <a:ln/>
        </p:spPr>
        <p:txBody>
          <a:bodyPr wrap="square" lIns="0" tIns="0" rIns="0" bIns="0" rtlCol="0" anchor="ctr"/>
          <a:lstStyle/>
          <a:p>
            <a:pPr indent="0" marL="0">
              <a:buNone/>
            </a:pPr>
            <a:r>
              <a:rPr lang="en-US" sz="1400" dirty="0">
                <a:solidFill>
                  <a:schemeClr val="tx1"/>
                </a:solidFill>
              </a:rPr>
              <a:t>Uninterruptible I/O wait</a:t>
            </a:r>
            <a:endParaRPr lang="en-US" sz="1400" dirty="0"/>
          </a:p>
        </p:txBody>
      </p:sp>
      <p:sp>
        <p:nvSpPr>
          <p:cNvPr id="13" name="Text 10"/>
          <p:cNvSpPr txBox="1"/>
          <p:nvPr/>
        </p:nvSpPr>
        <p:spPr>
          <a:xfrm>
            <a:off x="822960" y="4599432"/>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a:t>
            </a:r>
            <a:endParaRPr lang="en-US" sz="1400" dirty="0"/>
          </a:p>
        </p:txBody>
      </p:sp>
      <p:sp>
        <p:nvSpPr>
          <p:cNvPr id="14" name="Text 11"/>
          <p:cNvSpPr txBox="1"/>
          <p:nvPr/>
        </p:nvSpPr>
        <p:spPr>
          <a:xfrm>
            <a:off x="1920240" y="4599432"/>
            <a:ext cx="2011680" cy="548640"/>
          </a:xfrm>
          <a:prstGeom prst="rect">
            <a:avLst/>
          </a:prstGeom>
          <a:noFill/>
          <a:ln/>
        </p:spPr>
        <p:txBody>
          <a:bodyPr wrap="square" lIns="0" tIns="0" rIns="0" bIns="0" rtlCol="0" anchor="ctr"/>
          <a:lstStyle/>
          <a:p>
            <a:pPr indent="0" marL="0">
              <a:buNone/>
            </a:pPr>
            <a:r>
              <a:rPr lang="en-US" sz="1400" dirty="0">
                <a:solidFill>
                  <a:schemeClr val="tx1"/>
                </a:solidFill>
              </a:rPr>
              <a:t>Stopped or traced</a:t>
            </a:r>
            <a:endParaRPr lang="en-US" sz="1400" dirty="0"/>
          </a:p>
        </p:txBody>
      </p:sp>
      <p:sp>
        <p:nvSpPr>
          <p:cNvPr id="15" name="Text 12"/>
          <p:cNvSpPr txBox="1"/>
          <p:nvPr/>
        </p:nvSpPr>
        <p:spPr>
          <a:xfrm>
            <a:off x="822960" y="5294376"/>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Z</a:t>
            </a:r>
            <a:endParaRPr lang="en-US" sz="1400" dirty="0"/>
          </a:p>
        </p:txBody>
      </p:sp>
      <p:sp>
        <p:nvSpPr>
          <p:cNvPr id="16" name="Text 13"/>
          <p:cNvSpPr txBox="1"/>
          <p:nvPr/>
        </p:nvSpPr>
        <p:spPr>
          <a:xfrm>
            <a:off x="1920240" y="5294376"/>
            <a:ext cx="2011680" cy="548640"/>
          </a:xfrm>
          <a:prstGeom prst="rect">
            <a:avLst/>
          </a:prstGeom>
          <a:noFill/>
          <a:ln/>
        </p:spPr>
        <p:txBody>
          <a:bodyPr wrap="square" lIns="0" tIns="0" rIns="0" bIns="0" rtlCol="0" anchor="ctr"/>
          <a:lstStyle/>
          <a:p>
            <a:pPr indent="0" marL="0">
              <a:buNone/>
            </a:pPr>
            <a:r>
              <a:rPr lang="en-US" sz="1400" dirty="0">
                <a:solidFill>
                  <a:schemeClr val="tx1"/>
                </a:solidFill>
              </a:rPr>
              <a:t>Zombie (defunct)</a:t>
            </a:r>
            <a:endParaRPr lang="en-US" sz="1400" dirty="0"/>
          </a:p>
        </p:txBody>
      </p:sp>
      <p:sp>
        <p:nvSpPr>
          <p:cNvPr id="17" name="Signals"/>
          <p:cNvSpPr/>
          <p:nvPr/>
        </p:nvSpPr>
        <p:spPr>
          <a:xfrm>
            <a:off x="4297680" y="1463040"/>
            <a:ext cx="3566160" cy="4663440"/>
          </a:xfrm>
          <a:prstGeom prst="roundRect">
            <a:avLst>
              <a:gd name="adj" fmla="val 2564"/>
            </a:avLst>
          </a:prstGeom>
          <a:solidFill>
            <a:schemeClr val="bg2"/>
          </a:solidFill>
          <a:ln/>
        </p:spPr>
      </p:sp>
      <p:sp>
        <p:nvSpPr>
          <p:cNvPr id="18" name="Signals circle"/>
          <p:cNvSpPr/>
          <p:nvPr/>
        </p:nvSpPr>
        <p:spPr>
          <a:xfrm>
            <a:off x="4572000" y="1691640"/>
            <a:ext cx="548640" cy="548640"/>
          </a:xfrm>
          <a:prstGeom prst="ellipse">
            <a:avLst/>
          </a:prstGeom>
          <a:solidFill>
            <a:schemeClr val="accent1"/>
          </a:solidFill>
          <a:ln/>
        </p:spPr>
      </p:sp>
      <p:pic>
        <p:nvPicPr>
          <p:cNvPr id="19" name="Image 1" descr="Signals">    </p:cNvPr>
          <p:cNvPicPr>
            <a:picLocks noChangeAspect="1"/>
          </p:cNvPicPr>
          <p:nvPr/>
        </p:nvPicPr>
        <p:blipFill>
          <a:blip r:embed="rId2"/>
          <a:stretch>
            <a:fillRect/>
          </a:stretch>
        </p:blipFill>
        <p:spPr>
          <a:xfrm>
            <a:off x="4725619" y="1845259"/>
            <a:ext cx="241402" cy="241402"/>
          </a:xfrm>
          <a:prstGeom prst="rect">
            <a:avLst/>
          </a:prstGeom>
        </p:spPr>
      </p:pic>
      <p:sp>
        <p:nvSpPr>
          <p:cNvPr id="20" name="Text 16"/>
          <p:cNvSpPr txBox="1"/>
          <p:nvPr/>
        </p:nvSpPr>
        <p:spPr>
          <a:xfrm>
            <a:off x="5303520" y="1691640"/>
            <a:ext cx="2377440" cy="548640"/>
          </a:xfrm>
          <a:prstGeom prst="rect">
            <a:avLst/>
          </a:prstGeom>
          <a:noFill/>
          <a:ln/>
        </p:spPr>
        <p:txBody>
          <a:bodyPr wrap="square" lIns="0" tIns="0" rIns="0" bIns="0" rtlCol="0" anchor="ctr"/>
          <a:lstStyle/>
          <a:p>
            <a:pPr indent="0" marL="0">
              <a:buNone/>
            </a:pPr>
            <a:r>
              <a:rPr lang="en-US" sz="2200" b="1" dirty="0">
                <a:solidFill>
                  <a:schemeClr val="tx1"/>
                </a:solidFill>
              </a:rPr>
              <a:t>Signals</a:t>
            </a:r>
            <a:endParaRPr lang="en-US" sz="2200" dirty="0"/>
          </a:p>
        </p:txBody>
      </p:sp>
      <p:sp>
        <p:nvSpPr>
          <p:cNvPr id="21" name="Text 17"/>
          <p:cNvSpPr txBox="1"/>
          <p:nvPr/>
        </p:nvSpPr>
        <p:spPr>
          <a:xfrm>
            <a:off x="4572000" y="2514600"/>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SIGTERM</a:t>
            </a:r>
            <a:endParaRPr lang="en-US" sz="1400" dirty="0"/>
          </a:p>
        </p:txBody>
      </p:sp>
      <p:sp>
        <p:nvSpPr>
          <p:cNvPr id="22" name="Text 18"/>
          <p:cNvSpPr txBox="1"/>
          <p:nvPr/>
        </p:nvSpPr>
        <p:spPr>
          <a:xfrm>
            <a:off x="5669280" y="2514600"/>
            <a:ext cx="2011680" cy="548640"/>
          </a:xfrm>
          <a:prstGeom prst="rect">
            <a:avLst/>
          </a:prstGeom>
          <a:noFill/>
          <a:ln/>
        </p:spPr>
        <p:txBody>
          <a:bodyPr wrap="square" lIns="0" tIns="0" rIns="0" bIns="0" rtlCol="0" anchor="ctr"/>
          <a:lstStyle/>
          <a:p>
            <a:pPr indent="0" marL="0">
              <a:buNone/>
            </a:pPr>
            <a:r>
              <a:rPr lang="en-US" sz="1400" dirty="0">
                <a:solidFill>
                  <a:schemeClr val="tx1"/>
                </a:solidFill>
              </a:rPr>
              <a:t>15: Nexus stops the worker (3 s wait)</a:t>
            </a:r>
            <a:endParaRPr lang="en-US" sz="1400" dirty="0"/>
          </a:p>
        </p:txBody>
      </p:sp>
      <p:sp>
        <p:nvSpPr>
          <p:cNvPr id="23" name="Text 19"/>
          <p:cNvSpPr txBox="1"/>
          <p:nvPr/>
        </p:nvSpPr>
        <p:spPr>
          <a:xfrm>
            <a:off x="4572000" y="3209544"/>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SIGKILL</a:t>
            </a:r>
            <a:endParaRPr lang="en-US" sz="1400" dirty="0"/>
          </a:p>
        </p:txBody>
      </p:sp>
      <p:sp>
        <p:nvSpPr>
          <p:cNvPr id="24" name="Text 20"/>
          <p:cNvSpPr txBox="1"/>
          <p:nvPr/>
        </p:nvSpPr>
        <p:spPr>
          <a:xfrm>
            <a:off x="5669280" y="3209544"/>
            <a:ext cx="2011680" cy="548640"/>
          </a:xfrm>
          <a:prstGeom prst="rect">
            <a:avLst/>
          </a:prstGeom>
          <a:noFill/>
          <a:ln/>
        </p:spPr>
        <p:txBody>
          <a:bodyPr wrap="square" lIns="0" tIns="0" rIns="0" bIns="0" rtlCol="0" anchor="ctr"/>
          <a:lstStyle/>
          <a:p>
            <a:pPr indent="0" marL="0">
              <a:buNone/>
            </a:pPr>
            <a:r>
              <a:rPr lang="en-US" sz="1400" dirty="0">
                <a:solidFill>
                  <a:schemeClr val="tx1"/>
                </a:solidFill>
              </a:rPr>
              <a:t>9: fallback if it will not stop</a:t>
            </a:r>
            <a:endParaRPr lang="en-US" sz="1400" dirty="0"/>
          </a:p>
        </p:txBody>
      </p:sp>
      <p:sp>
        <p:nvSpPr>
          <p:cNvPr id="25" name="Text 21"/>
          <p:cNvSpPr txBox="1"/>
          <p:nvPr/>
        </p:nvSpPr>
        <p:spPr>
          <a:xfrm>
            <a:off x="4572000" y="3904488"/>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SIGSEGV</a:t>
            </a:r>
            <a:endParaRPr lang="en-US" sz="1400" dirty="0"/>
          </a:p>
        </p:txBody>
      </p:sp>
      <p:sp>
        <p:nvSpPr>
          <p:cNvPr id="26" name="Text 22"/>
          <p:cNvSpPr txBox="1"/>
          <p:nvPr/>
        </p:nvSpPr>
        <p:spPr>
          <a:xfrm>
            <a:off x="5669280" y="3904488"/>
            <a:ext cx="2011680" cy="548640"/>
          </a:xfrm>
          <a:prstGeom prst="rect">
            <a:avLst/>
          </a:prstGeom>
          <a:noFill/>
          <a:ln/>
        </p:spPr>
        <p:txBody>
          <a:bodyPr wrap="square" lIns="0" tIns="0" rIns="0" bIns="0" rtlCol="0" anchor="ctr"/>
          <a:lstStyle/>
          <a:p>
            <a:pPr indent="0" marL="0">
              <a:buNone/>
            </a:pPr>
            <a:r>
              <a:rPr lang="en-US" sz="1400" dirty="0">
                <a:solidFill>
                  <a:schemeClr val="tx1"/>
                </a:solidFill>
              </a:rPr>
              <a:t>11: invalid memory access</a:t>
            </a:r>
            <a:endParaRPr lang="en-US" sz="1400" dirty="0"/>
          </a:p>
        </p:txBody>
      </p:sp>
      <p:sp>
        <p:nvSpPr>
          <p:cNvPr id="27" name="Text 23"/>
          <p:cNvSpPr txBox="1"/>
          <p:nvPr/>
        </p:nvSpPr>
        <p:spPr>
          <a:xfrm>
            <a:off x="4572000" y="4599432"/>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SIGINT</a:t>
            </a:r>
            <a:endParaRPr lang="en-US" sz="1400" dirty="0"/>
          </a:p>
        </p:txBody>
      </p:sp>
      <p:sp>
        <p:nvSpPr>
          <p:cNvPr id="28" name="Text 24"/>
          <p:cNvSpPr txBox="1"/>
          <p:nvPr/>
        </p:nvSpPr>
        <p:spPr>
          <a:xfrm>
            <a:off x="5669280" y="4599432"/>
            <a:ext cx="2011680" cy="548640"/>
          </a:xfrm>
          <a:prstGeom prst="rect">
            <a:avLst/>
          </a:prstGeom>
          <a:noFill/>
          <a:ln/>
        </p:spPr>
        <p:txBody>
          <a:bodyPr wrap="square" lIns="0" tIns="0" rIns="0" bIns="0" rtlCol="0" anchor="ctr"/>
          <a:lstStyle/>
          <a:p>
            <a:pPr indent="0" marL="0">
              <a:buNone/>
            </a:pPr>
            <a:r>
              <a:rPr lang="en-US" sz="1400" dirty="0">
                <a:solidFill>
                  <a:schemeClr val="tx1"/>
                </a:solidFill>
              </a:rPr>
              <a:t>2: test worker exits cleanly</a:t>
            </a:r>
            <a:endParaRPr lang="en-US" sz="1400" dirty="0"/>
          </a:p>
        </p:txBody>
      </p:sp>
      <p:sp>
        <p:nvSpPr>
          <p:cNvPr id="29" name="Text 25"/>
          <p:cNvSpPr txBox="1"/>
          <p:nvPr/>
        </p:nvSpPr>
        <p:spPr>
          <a:xfrm>
            <a:off x="4572000" y="5294376"/>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SIGCHLD</a:t>
            </a:r>
            <a:endParaRPr lang="en-US" sz="1400" dirty="0"/>
          </a:p>
        </p:txBody>
      </p:sp>
      <p:sp>
        <p:nvSpPr>
          <p:cNvPr id="30" name="Text 26"/>
          <p:cNvSpPr txBox="1"/>
          <p:nvPr/>
        </p:nvSpPr>
        <p:spPr>
          <a:xfrm>
            <a:off x="5669280" y="5294376"/>
            <a:ext cx="2011680" cy="548640"/>
          </a:xfrm>
          <a:prstGeom prst="rect">
            <a:avLst/>
          </a:prstGeom>
          <a:noFill/>
          <a:ln/>
        </p:spPr>
        <p:txBody>
          <a:bodyPr wrap="square" lIns="0" tIns="0" rIns="0" bIns="0" rtlCol="0" anchor="ctr"/>
          <a:lstStyle/>
          <a:p>
            <a:pPr indent="0" marL="0">
              <a:buNone/>
            </a:pPr>
            <a:r>
              <a:rPr lang="en-US" sz="1400" dirty="0">
                <a:solidFill>
                  <a:schemeClr val="tx1"/>
                </a:solidFill>
              </a:rPr>
              <a:t>Child changed state</a:t>
            </a:r>
            <a:endParaRPr lang="en-US" sz="1400" dirty="0"/>
          </a:p>
        </p:txBody>
      </p:sp>
      <p:sp>
        <p:nvSpPr>
          <p:cNvPr id="31" name="Exit status"/>
          <p:cNvSpPr/>
          <p:nvPr/>
        </p:nvSpPr>
        <p:spPr>
          <a:xfrm>
            <a:off x="8046720" y="1463040"/>
            <a:ext cx="3566160" cy="4663440"/>
          </a:xfrm>
          <a:prstGeom prst="roundRect">
            <a:avLst>
              <a:gd name="adj" fmla="val 2564"/>
            </a:avLst>
          </a:prstGeom>
          <a:solidFill>
            <a:schemeClr val="bg2"/>
          </a:solidFill>
          <a:ln/>
        </p:spPr>
      </p:sp>
      <p:sp>
        <p:nvSpPr>
          <p:cNvPr id="32" name="Exit status circle"/>
          <p:cNvSpPr/>
          <p:nvPr/>
        </p:nvSpPr>
        <p:spPr>
          <a:xfrm>
            <a:off x="8321040" y="1691640"/>
            <a:ext cx="548640" cy="548640"/>
          </a:xfrm>
          <a:prstGeom prst="ellipse">
            <a:avLst/>
          </a:prstGeom>
          <a:solidFill>
            <a:schemeClr val="accent1"/>
          </a:solidFill>
          <a:ln/>
        </p:spPr>
      </p:sp>
      <p:pic>
        <p:nvPicPr>
          <p:cNvPr id="33" name="Image 2" descr="Exit status">    </p:cNvPr>
          <p:cNvPicPr>
            <a:picLocks noChangeAspect="1"/>
          </p:cNvPicPr>
          <p:nvPr/>
        </p:nvPicPr>
        <p:blipFill>
          <a:blip r:embed="rId3"/>
          <a:stretch>
            <a:fillRect/>
          </a:stretch>
        </p:blipFill>
        <p:spPr>
          <a:xfrm>
            <a:off x="8474659" y="1845259"/>
            <a:ext cx="241402" cy="241402"/>
          </a:xfrm>
          <a:prstGeom prst="rect">
            <a:avLst/>
          </a:prstGeom>
        </p:spPr>
      </p:pic>
      <p:sp>
        <p:nvSpPr>
          <p:cNvPr id="34" name="Text 29"/>
          <p:cNvSpPr txBox="1"/>
          <p:nvPr/>
        </p:nvSpPr>
        <p:spPr>
          <a:xfrm>
            <a:off x="9052560" y="1691640"/>
            <a:ext cx="2377440" cy="548640"/>
          </a:xfrm>
          <a:prstGeom prst="rect">
            <a:avLst/>
          </a:prstGeom>
          <a:noFill/>
          <a:ln/>
        </p:spPr>
        <p:txBody>
          <a:bodyPr wrap="square" lIns="0" tIns="0" rIns="0" bIns="0" rtlCol="0" anchor="ctr"/>
          <a:lstStyle/>
          <a:p>
            <a:pPr indent="0" marL="0">
              <a:buNone/>
            </a:pPr>
            <a:r>
              <a:rPr lang="en-US" sz="2200" b="1" dirty="0">
                <a:solidFill>
                  <a:schemeClr val="tx1"/>
                </a:solidFill>
              </a:rPr>
              <a:t>Nexus checks</a:t>
            </a:r>
            <a:endParaRPr lang="en-US" sz="2200" dirty="0"/>
          </a:p>
        </p:txBody>
      </p:sp>
      <p:sp>
        <p:nvSpPr>
          <p:cNvPr id="35" name="Text 30"/>
          <p:cNvSpPr txBox="1"/>
          <p:nvPr/>
        </p:nvSpPr>
        <p:spPr>
          <a:xfrm>
            <a:off x="8321040" y="2514600"/>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PID</a:t>
            </a:r>
            <a:endParaRPr lang="en-US" sz="1400" dirty="0"/>
          </a:p>
        </p:txBody>
      </p:sp>
      <p:sp>
        <p:nvSpPr>
          <p:cNvPr id="36" name="Text 31"/>
          <p:cNvSpPr txBox="1"/>
          <p:nvPr/>
        </p:nvSpPr>
        <p:spPr>
          <a:xfrm>
            <a:off x="9418320" y="2514600"/>
            <a:ext cx="2011680" cy="548640"/>
          </a:xfrm>
          <a:prstGeom prst="rect">
            <a:avLst/>
          </a:prstGeom>
          <a:noFill/>
          <a:ln/>
        </p:spPr>
        <p:txBody>
          <a:bodyPr wrap="square" lIns="0" tIns="0" rIns="0" bIns="0" rtlCol="0" anchor="ctr"/>
          <a:lstStyle/>
          <a:p>
            <a:pPr indent="0" marL="0">
              <a:buNone/>
            </a:pPr>
            <a:r>
              <a:rPr lang="en-US" sz="1400" dirty="0">
                <a:solidFill>
                  <a:schemeClr val="tx1"/>
                </a:solidFill>
              </a:rPr>
              <a:t>Registered process ID</a:t>
            </a:r>
            <a:endParaRPr lang="en-US" sz="1400" dirty="0"/>
          </a:p>
        </p:txBody>
      </p:sp>
      <p:sp>
        <p:nvSpPr>
          <p:cNvPr id="37" name="Text 32"/>
          <p:cNvSpPr txBox="1"/>
          <p:nvPr/>
        </p:nvSpPr>
        <p:spPr>
          <a:xfrm>
            <a:off x="8321040" y="3209544"/>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Start</a:t>
            </a:r>
            <a:endParaRPr lang="en-US" sz="1400" dirty="0"/>
          </a:p>
        </p:txBody>
      </p:sp>
      <p:sp>
        <p:nvSpPr>
          <p:cNvPr id="38" name="Text 33"/>
          <p:cNvSpPr txBox="1"/>
          <p:nvPr/>
        </p:nvSpPr>
        <p:spPr>
          <a:xfrm>
            <a:off x="9418320" y="3209544"/>
            <a:ext cx="2011680" cy="548640"/>
          </a:xfrm>
          <a:prstGeom prst="rect">
            <a:avLst/>
          </a:prstGeom>
          <a:noFill/>
          <a:ln/>
        </p:spPr>
        <p:txBody>
          <a:bodyPr wrap="square" lIns="0" tIns="0" rIns="0" bIns="0" rtlCol="0" anchor="ctr"/>
          <a:lstStyle/>
          <a:p>
            <a:pPr indent="0" marL="0">
              <a:buNone/>
            </a:pPr>
            <a:r>
              <a:rPr lang="en-US" sz="1400" dirty="0">
                <a:solidFill>
                  <a:schemeClr val="tx1"/>
                </a:solidFill>
              </a:rPr>
              <a:t>Create time within 2 s</a:t>
            </a:r>
            <a:endParaRPr lang="en-US" sz="1400" dirty="0"/>
          </a:p>
        </p:txBody>
      </p:sp>
      <p:sp>
        <p:nvSpPr>
          <p:cNvPr id="39" name="Text 34"/>
          <p:cNvSpPr txBox="1"/>
          <p:nvPr/>
        </p:nvSpPr>
        <p:spPr>
          <a:xfrm>
            <a:off x="8321040" y="3904488"/>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Cmdline</a:t>
            </a:r>
            <a:endParaRPr lang="en-US" sz="1400" dirty="0"/>
          </a:p>
        </p:txBody>
      </p:sp>
      <p:sp>
        <p:nvSpPr>
          <p:cNvPr id="40" name="Text 35"/>
          <p:cNvSpPr txBox="1"/>
          <p:nvPr/>
        </p:nvSpPr>
        <p:spPr>
          <a:xfrm>
            <a:off x="9418320" y="3904488"/>
            <a:ext cx="2011680" cy="548640"/>
          </a:xfrm>
          <a:prstGeom prst="rect">
            <a:avLst/>
          </a:prstGeom>
          <a:noFill/>
          <a:ln/>
        </p:spPr>
        <p:txBody>
          <a:bodyPr wrap="square" lIns="0" tIns="0" rIns="0" bIns="0" rtlCol="0" anchor="ctr"/>
          <a:lstStyle/>
          <a:p>
            <a:pPr indent="0" marL="0">
              <a:buNone/>
            </a:pPr>
            <a:r>
              <a:rPr lang="en-US" sz="1400" dirty="0">
                <a:solidFill>
                  <a:schemeClr val="tx1"/>
                </a:solidFill>
              </a:rPr>
              <a:t>Contains test_process.py</a:t>
            </a:r>
            <a:endParaRPr lang="en-US" sz="1400" dirty="0"/>
          </a:p>
        </p:txBody>
      </p:sp>
      <p:sp>
        <p:nvSpPr>
          <p:cNvPr id="41" name="Text 36"/>
          <p:cNvSpPr txBox="1"/>
          <p:nvPr/>
        </p:nvSpPr>
        <p:spPr>
          <a:xfrm>
            <a:off x="8321040" y="4599432"/>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State</a:t>
            </a:r>
            <a:endParaRPr lang="en-US" sz="1400" dirty="0"/>
          </a:p>
        </p:txBody>
      </p:sp>
      <p:sp>
        <p:nvSpPr>
          <p:cNvPr id="42" name="Text 37"/>
          <p:cNvSpPr txBox="1"/>
          <p:nvPr/>
        </p:nvSpPr>
        <p:spPr>
          <a:xfrm>
            <a:off x="9418320" y="4599432"/>
            <a:ext cx="2011680" cy="548640"/>
          </a:xfrm>
          <a:prstGeom prst="rect">
            <a:avLst/>
          </a:prstGeom>
          <a:noFill/>
          <a:ln/>
        </p:spPr>
        <p:txBody>
          <a:bodyPr wrap="square" lIns="0" tIns="0" rIns="0" bIns="0" rtlCol="0" anchor="ctr"/>
          <a:lstStyle/>
          <a:p>
            <a:pPr indent="0" marL="0">
              <a:buNone/>
            </a:pPr>
            <a:r>
              <a:rPr lang="en-US" sz="1400" dirty="0">
                <a:solidFill>
                  <a:schemeClr val="tx1"/>
                </a:solidFill>
              </a:rPr>
              <a:t>Zombie counts as not alive</a:t>
            </a:r>
            <a:endParaRPr lang="en-US" sz="1400" dirty="0"/>
          </a:p>
        </p:txBody>
      </p:sp>
      <p:sp>
        <p:nvSpPr>
          <p:cNvPr id="43" name="Text 38"/>
          <p:cNvSpPr txBox="1"/>
          <p:nvPr/>
        </p:nvSpPr>
        <p:spPr>
          <a:xfrm>
            <a:off x="8321040" y="5294376"/>
            <a:ext cx="1051560" cy="5486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Health</a:t>
            </a:r>
            <a:endParaRPr lang="en-US" sz="1400" dirty="0"/>
          </a:p>
        </p:txBody>
      </p:sp>
      <p:sp>
        <p:nvSpPr>
          <p:cNvPr id="44" name="Text 39"/>
          <p:cNvSpPr txBox="1"/>
          <p:nvPr/>
        </p:nvSpPr>
        <p:spPr>
          <a:xfrm>
            <a:off x="9418320" y="5294376"/>
            <a:ext cx="2011680" cy="548640"/>
          </a:xfrm>
          <a:prstGeom prst="rect">
            <a:avLst/>
          </a:prstGeom>
          <a:noFill/>
          <a:ln/>
        </p:spPr>
        <p:txBody>
          <a:bodyPr wrap="square" lIns="0" tIns="0" rIns="0" bIns="0" rtlCol="0" anchor="ctr"/>
          <a:lstStyle/>
          <a:p>
            <a:pPr indent="0" marL="0">
              <a:buNone/>
            </a:pPr>
            <a:r>
              <a:rPr lang="en-US" sz="1400" dirty="0">
                <a:solidFill>
                  <a:schemeClr val="tx1"/>
                </a:solidFill>
              </a:rPr>
              <a:t>Optional HTTP 200 to 399</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System Architecture</a:t>
            </a:r>
            <a:endParaRPr lang="en-US" sz="3600" dirty="0"/>
          </a:p>
        </p:txBody>
      </p:sp>
      <p:sp>
        <p:nvSpPr>
          <p:cNvPr id="3" name="Config box"/>
          <p:cNvSpPr/>
          <p:nvPr/>
        </p:nvSpPr>
        <p:spPr>
          <a:xfrm>
            <a:off x="548640" y="2011680"/>
            <a:ext cx="2011680" cy="1463040"/>
          </a:xfrm>
          <a:prstGeom prst="roundRect">
            <a:avLst>
              <a:gd name="adj" fmla="val 6250"/>
            </a:avLst>
          </a:prstGeom>
          <a:solidFill>
            <a:schemeClr val="tx2"/>
          </a:solidFill>
          <a:ln/>
        </p:spPr>
      </p:sp>
      <p:sp>
        <p:nvSpPr>
          <p:cNvPr id="4" name="Config circle"/>
          <p:cNvSpPr/>
          <p:nvPr/>
        </p:nvSpPr>
        <p:spPr>
          <a:xfrm>
            <a:off x="777240" y="2194560"/>
            <a:ext cx="457200" cy="457200"/>
          </a:xfrm>
          <a:prstGeom prst="ellipse">
            <a:avLst/>
          </a:prstGeom>
          <a:solidFill>
            <a:schemeClr val="accent1"/>
          </a:solidFill>
          <a:ln/>
        </p:spPr>
      </p:sp>
      <p:pic>
        <p:nvPicPr>
          <p:cNvPr id="5" name="Image 0" descr="Config">    </p:cNvPr>
          <p:cNvPicPr>
            <a:picLocks noChangeAspect="1"/>
          </p:cNvPicPr>
          <p:nvPr/>
        </p:nvPicPr>
        <p:blipFill>
          <a:blip r:embed="rId1"/>
          <a:stretch>
            <a:fillRect/>
          </a:stretch>
        </p:blipFill>
        <p:spPr>
          <a:xfrm>
            <a:off x="905256" y="2322576"/>
            <a:ext cx="201168" cy="201168"/>
          </a:xfrm>
          <a:prstGeom prst="rect">
            <a:avLst/>
          </a:prstGeom>
        </p:spPr>
      </p:pic>
      <p:sp>
        <p:nvSpPr>
          <p:cNvPr id="6" name="Text 3"/>
          <p:cNvSpPr txBox="1"/>
          <p:nvPr/>
        </p:nvSpPr>
        <p:spPr>
          <a:xfrm>
            <a:off x="777240" y="2743200"/>
            <a:ext cx="1737360" cy="640080"/>
          </a:xfrm>
          <a:prstGeom prst="rect">
            <a:avLst/>
          </a:prstGeom>
          <a:noFill/>
          <a:ln/>
        </p:spPr>
        <p:txBody>
          <a:bodyPr wrap="square" lIns="0" tIns="0" rIns="0" bIns="0" rtlCol="0" anchor="t"/>
          <a:lstStyle/>
          <a:p>
            <a:pPr indent="0" marL="0">
              <a:buNone/>
            </a:pPr>
            <a:r>
              <a:rPr lang="en-US" sz="1600" b="1" dirty="0">
                <a:solidFill>
                  <a:schemeClr val="bg1"/>
                </a:solidFill>
              </a:rPr>
              <a:t>React dashboard</a:t>
            </a:r>
            <a:endParaRPr lang="en-US" sz="1400" dirty="0"/>
          </a:p>
          <a:p>
            <a:pPr indent="0" marL="0">
              <a:buNone/>
            </a:pPr>
            <a:r>
              <a:rPr lang="en-US" sz="1200" dirty="0">
                <a:solidFill>
                  <a:schemeClr val="bg2"/>
                </a:solidFill>
                <a:latin typeface="Courier New" pitchFamily="34" charset="0"/>
                <a:ea typeface="Courier New" pitchFamily="34" charset="-122"/>
                <a:cs typeface="Courier New" pitchFamily="34" charset="-120"/>
              </a:rPr>
              <a:t>Vite, REST /api</a:t>
            </a:r>
            <a:endParaRPr lang="en-US" sz="1400" dirty="0"/>
          </a:p>
        </p:txBody>
      </p:sp>
      <p:sp>
        <p:nvSpPr>
          <p:cNvPr id="7" name="Daemon frame"/>
          <p:cNvSpPr/>
          <p:nvPr/>
        </p:nvSpPr>
        <p:spPr>
          <a:xfrm>
            <a:off x="3291840" y="1463040"/>
            <a:ext cx="5120640" cy="3383280"/>
          </a:xfrm>
          <a:prstGeom prst="roundRect">
            <a:avLst>
              <a:gd name="adj" fmla="val 2703"/>
            </a:avLst>
          </a:prstGeom>
          <a:solidFill>
            <a:schemeClr val="tx1"/>
          </a:solidFill>
          <a:ln w="25400">
            <a:solidFill>
              <a:schemeClr val="accent6"/>
            </a:solidFill>
            <a:prstDash val="solid"/>
          </a:ln>
        </p:spPr>
      </p:sp>
      <p:sp>
        <p:nvSpPr>
          <p:cNvPr id="8" name="Text 5"/>
          <p:cNvSpPr txBox="1"/>
          <p:nvPr/>
        </p:nvSpPr>
        <p:spPr>
          <a:xfrm>
            <a:off x="3520440" y="1600200"/>
            <a:ext cx="4572000" cy="365760"/>
          </a:xfrm>
          <a:prstGeom prst="rect">
            <a:avLst/>
          </a:prstGeom>
          <a:noFill/>
          <a:ln/>
        </p:spPr>
        <p:txBody>
          <a:bodyPr wrap="square" lIns="0" tIns="0" rIns="0" bIns="0" rtlCol="0" anchor="t"/>
          <a:lstStyle/>
          <a:p>
            <a:pPr indent="0" marL="0">
              <a:buNone/>
            </a:pPr>
            <a:r>
              <a:rPr lang="en-US" sz="1800" b="1" dirty="0">
                <a:solidFill>
                  <a:schemeClr val="accent6"/>
                </a:solidFill>
              </a:rPr>
              <a:t>Nexus backend (FastAPI)</a:t>
            </a:r>
            <a:endParaRPr lang="en-US" sz="1800" dirty="0"/>
          </a:p>
        </p:txBody>
      </p:sp>
      <p:sp>
        <p:nvSpPr>
          <p:cNvPr id="9" name="Monitor loop"/>
          <p:cNvSpPr/>
          <p:nvPr/>
        </p:nvSpPr>
        <p:spPr>
          <a:xfrm>
            <a:off x="3520440" y="2148840"/>
            <a:ext cx="2286000" cy="1097280"/>
          </a:xfrm>
          <a:prstGeom prst="roundRect">
            <a:avLst>
              <a:gd name="adj" fmla="val 8333"/>
            </a:avLst>
          </a:prstGeom>
          <a:solidFill>
            <a:schemeClr val="tx2"/>
          </a:solidFill>
          <a:ln/>
        </p:spPr>
      </p:sp>
      <p:sp>
        <p:nvSpPr>
          <p:cNvPr id="10" name="Text 7"/>
          <p:cNvSpPr txBox="1"/>
          <p:nvPr/>
        </p:nvSpPr>
        <p:spPr>
          <a:xfrm>
            <a:off x="3657600" y="2148840"/>
            <a:ext cx="2057400" cy="1097280"/>
          </a:xfrm>
          <a:prstGeom prst="rect">
            <a:avLst/>
          </a:prstGeom>
          <a:noFill/>
          <a:ln/>
        </p:spPr>
        <p:txBody>
          <a:bodyPr wrap="square" lIns="0" tIns="0" rIns="0" bIns="0" rtlCol="0" anchor="ctr"/>
          <a:lstStyle/>
          <a:p>
            <a:pPr indent="0" marL="0">
              <a:buNone/>
            </a:pPr>
            <a:r>
              <a:rPr lang="en-US" sz="1600" b="1" dirty="0">
                <a:solidFill>
                  <a:schemeClr val="bg1"/>
                </a:solidFill>
              </a:rPr>
              <a:t>Monitor loop</a:t>
            </a:r>
            <a:endParaRPr lang="en-US" sz="1400" dirty="0"/>
          </a:p>
          <a:p>
            <a:pPr indent="0" marL="0">
              <a:buNone/>
            </a:pPr>
            <a:r>
              <a:rPr lang="en-US" sz="1400" dirty="0">
                <a:solidFill>
                  <a:schemeClr val="bg2"/>
                </a:solidFill>
              </a:rPr>
              <a:t>Async task, every 5 s</a:t>
            </a:r>
            <a:endParaRPr lang="en-US" sz="1400" dirty="0"/>
          </a:p>
        </p:txBody>
      </p:sp>
      <p:sp>
        <p:nvSpPr>
          <p:cNvPr id="11" name="Process checker"/>
          <p:cNvSpPr/>
          <p:nvPr/>
        </p:nvSpPr>
        <p:spPr>
          <a:xfrm>
            <a:off x="5989320" y="2148840"/>
            <a:ext cx="2286000" cy="1097280"/>
          </a:xfrm>
          <a:prstGeom prst="roundRect">
            <a:avLst>
              <a:gd name="adj" fmla="val 8333"/>
            </a:avLst>
          </a:prstGeom>
          <a:solidFill>
            <a:schemeClr val="tx2"/>
          </a:solidFill>
          <a:ln/>
        </p:spPr>
      </p:sp>
      <p:sp>
        <p:nvSpPr>
          <p:cNvPr id="12" name="Text 9"/>
          <p:cNvSpPr txBox="1"/>
          <p:nvPr/>
        </p:nvSpPr>
        <p:spPr>
          <a:xfrm>
            <a:off x="6126480" y="2148840"/>
            <a:ext cx="2057400" cy="1097280"/>
          </a:xfrm>
          <a:prstGeom prst="rect">
            <a:avLst/>
          </a:prstGeom>
          <a:noFill/>
          <a:ln/>
        </p:spPr>
        <p:txBody>
          <a:bodyPr wrap="square" lIns="0" tIns="0" rIns="0" bIns="0" rtlCol="0" anchor="ctr"/>
          <a:lstStyle/>
          <a:p>
            <a:pPr indent="0" marL="0">
              <a:buNone/>
            </a:pPr>
            <a:r>
              <a:rPr lang="en-US" sz="1600" b="1" dirty="0">
                <a:solidFill>
                  <a:schemeClr val="bg1"/>
                </a:solidFill>
              </a:rPr>
              <a:t>Process checker</a:t>
            </a:r>
            <a:endParaRPr lang="en-US" sz="1400" dirty="0"/>
          </a:p>
          <a:p>
            <a:pPr indent="0" marL="0">
              <a:buNone/>
            </a:pPr>
            <a:r>
              <a:rPr lang="en-US" sz="1400" dirty="0">
                <a:solidFill>
                  <a:schemeClr val="bg2"/>
                </a:solidFill>
              </a:rPr>
              <a:t>psutil: PID, start, cmdline</a:t>
            </a:r>
            <a:endParaRPr lang="en-US" sz="1400" dirty="0"/>
          </a:p>
        </p:txBody>
      </p:sp>
      <p:sp>
        <p:nvSpPr>
          <p:cNvPr id="13" name="Restart manager"/>
          <p:cNvSpPr/>
          <p:nvPr/>
        </p:nvSpPr>
        <p:spPr>
          <a:xfrm>
            <a:off x="3520440" y="3429000"/>
            <a:ext cx="2286000" cy="1097280"/>
          </a:xfrm>
          <a:prstGeom prst="roundRect">
            <a:avLst>
              <a:gd name="adj" fmla="val 8333"/>
            </a:avLst>
          </a:prstGeom>
          <a:solidFill>
            <a:schemeClr val="tx2"/>
          </a:solidFill>
          <a:ln/>
        </p:spPr>
      </p:sp>
      <p:sp>
        <p:nvSpPr>
          <p:cNvPr id="14" name="Text 11"/>
          <p:cNvSpPr txBox="1"/>
          <p:nvPr/>
        </p:nvSpPr>
        <p:spPr>
          <a:xfrm>
            <a:off x="3657600" y="3429000"/>
            <a:ext cx="2057400" cy="1097280"/>
          </a:xfrm>
          <a:prstGeom prst="rect">
            <a:avLst/>
          </a:prstGeom>
          <a:noFill/>
          <a:ln/>
        </p:spPr>
        <p:txBody>
          <a:bodyPr wrap="square" lIns="0" tIns="0" rIns="0" bIns="0" rtlCol="0" anchor="ctr"/>
          <a:lstStyle/>
          <a:p>
            <a:pPr indent="0" marL="0">
              <a:buNone/>
            </a:pPr>
            <a:r>
              <a:rPr lang="en-US" sz="1600" b="1" dirty="0">
                <a:solidFill>
                  <a:schemeClr val="bg1"/>
                </a:solidFill>
              </a:rPr>
              <a:t>Restart manager</a:t>
            </a:r>
            <a:endParaRPr lang="en-US" sz="1400" dirty="0"/>
          </a:p>
          <a:p>
            <a:pPr indent="0" marL="0">
              <a:buNone/>
            </a:pPr>
            <a:r>
              <a:rPr lang="en-US" sz="1400" dirty="0">
                <a:solidFill>
                  <a:schemeClr val="bg2"/>
                </a:solidFill>
              </a:rPr>
              <a:t>Spawn, verify within 3 s</a:t>
            </a:r>
            <a:endParaRPr lang="en-US" sz="1400" dirty="0"/>
          </a:p>
        </p:txBody>
      </p:sp>
      <p:sp>
        <p:nvSpPr>
          <p:cNvPr id="15" name="Policy engine"/>
          <p:cNvSpPr/>
          <p:nvPr/>
        </p:nvSpPr>
        <p:spPr>
          <a:xfrm>
            <a:off x="5989320" y="3429000"/>
            <a:ext cx="2286000" cy="1097280"/>
          </a:xfrm>
          <a:prstGeom prst="roundRect">
            <a:avLst>
              <a:gd name="adj" fmla="val 8333"/>
            </a:avLst>
          </a:prstGeom>
          <a:solidFill>
            <a:schemeClr val="tx2"/>
          </a:solidFill>
          <a:ln/>
        </p:spPr>
      </p:sp>
      <p:sp>
        <p:nvSpPr>
          <p:cNvPr id="16" name="Text 13"/>
          <p:cNvSpPr txBox="1"/>
          <p:nvPr/>
        </p:nvSpPr>
        <p:spPr>
          <a:xfrm>
            <a:off x="6126480" y="3429000"/>
            <a:ext cx="2057400" cy="1097280"/>
          </a:xfrm>
          <a:prstGeom prst="rect">
            <a:avLst/>
          </a:prstGeom>
          <a:noFill/>
          <a:ln/>
        </p:spPr>
        <p:txBody>
          <a:bodyPr wrap="square" lIns="0" tIns="0" rIns="0" bIns="0" rtlCol="0" anchor="ctr"/>
          <a:lstStyle/>
          <a:p>
            <a:pPr indent="0" marL="0">
              <a:buNone/>
            </a:pPr>
            <a:r>
              <a:rPr lang="en-US" sz="1600" b="1" dirty="0">
                <a:solidFill>
                  <a:schemeClr val="bg1"/>
                </a:solidFill>
              </a:rPr>
              <a:t>Policy engine</a:t>
            </a:r>
            <a:endParaRPr lang="en-US" sz="1400" dirty="0"/>
          </a:p>
          <a:p>
            <a:pPr indent="0" marL="0">
              <a:buNone/>
            </a:pPr>
            <a:r>
              <a:rPr lang="en-US" sz="1400" dirty="0">
                <a:solidFill>
                  <a:schemeClr val="bg2"/>
                </a:solidFill>
              </a:rPr>
              <a:t>Attempt limit, cooldown</a:t>
            </a:r>
            <a:endParaRPr lang="en-US" sz="1400" dirty="0"/>
          </a:p>
        </p:txBody>
      </p:sp>
      <p:sp>
        <p:nvSpPr>
          <p:cNvPr id="17" name="Processes box"/>
          <p:cNvSpPr/>
          <p:nvPr/>
        </p:nvSpPr>
        <p:spPr>
          <a:xfrm>
            <a:off x="9144000" y="1463040"/>
            <a:ext cx="2496312" cy="3383280"/>
          </a:xfrm>
          <a:prstGeom prst="roundRect">
            <a:avLst>
              <a:gd name="adj" fmla="val 3663"/>
            </a:avLst>
          </a:prstGeom>
          <a:solidFill>
            <a:schemeClr val="tx2"/>
          </a:solidFill>
          <a:ln/>
        </p:spPr>
      </p:sp>
      <p:sp>
        <p:nvSpPr>
          <p:cNvPr id="18" name="Processes circle"/>
          <p:cNvSpPr/>
          <p:nvPr/>
        </p:nvSpPr>
        <p:spPr>
          <a:xfrm>
            <a:off x="9372600" y="1645920"/>
            <a:ext cx="457200" cy="457200"/>
          </a:xfrm>
          <a:prstGeom prst="ellipse">
            <a:avLst/>
          </a:prstGeom>
          <a:solidFill>
            <a:schemeClr val="accent1"/>
          </a:solidFill>
          <a:ln/>
        </p:spPr>
      </p:sp>
      <p:pic>
        <p:nvPicPr>
          <p:cNvPr id="19" name="Image 1" descr="Processes">    </p:cNvPr>
          <p:cNvPicPr>
            <a:picLocks noChangeAspect="1"/>
          </p:cNvPicPr>
          <p:nvPr/>
        </p:nvPicPr>
        <p:blipFill>
          <a:blip r:embed="rId2"/>
          <a:stretch>
            <a:fillRect/>
          </a:stretch>
        </p:blipFill>
        <p:spPr>
          <a:xfrm>
            <a:off x="9500616" y="1773936"/>
            <a:ext cx="201168" cy="201168"/>
          </a:xfrm>
          <a:prstGeom prst="rect">
            <a:avLst/>
          </a:prstGeom>
        </p:spPr>
      </p:pic>
      <p:sp>
        <p:nvSpPr>
          <p:cNvPr id="20" name="Text 16"/>
          <p:cNvSpPr txBox="1"/>
          <p:nvPr/>
        </p:nvSpPr>
        <p:spPr>
          <a:xfrm>
            <a:off x="9372600" y="2240280"/>
            <a:ext cx="2103120" cy="548640"/>
          </a:xfrm>
          <a:prstGeom prst="rect">
            <a:avLst/>
          </a:prstGeom>
          <a:noFill/>
          <a:ln/>
        </p:spPr>
        <p:txBody>
          <a:bodyPr wrap="square" lIns="0" tIns="0" rIns="0" bIns="0" rtlCol="0" anchor="t"/>
          <a:lstStyle/>
          <a:p>
            <a:pPr indent="0" marL="0">
              <a:buNone/>
            </a:pPr>
            <a:r>
              <a:rPr lang="en-US" sz="1600" b="1" dirty="0">
                <a:solidFill>
                  <a:schemeClr val="bg1"/>
                </a:solidFill>
              </a:rPr>
              <a:t>Monitored processes</a:t>
            </a:r>
            <a:endParaRPr lang="en-US" sz="1600" dirty="0"/>
          </a:p>
        </p:txBody>
      </p:sp>
      <p:sp>
        <p:nvSpPr>
          <p:cNvPr id="21" name="Text 17"/>
          <p:cNvSpPr txBox="1"/>
          <p:nvPr/>
        </p:nvSpPr>
        <p:spPr>
          <a:xfrm>
            <a:off x="9372600" y="2926080"/>
            <a:ext cx="2103120" cy="1645920"/>
          </a:xfrm>
          <a:prstGeom prst="rect">
            <a:avLst/>
          </a:prstGeom>
          <a:noFill/>
          <a:ln/>
        </p:spPr>
        <p:txBody>
          <a:bodyPr wrap="square" lIns="0" tIns="0" rIns="0" bIns="0" rtlCol="0" anchor="t"/>
          <a:lstStyle/>
          <a:p>
            <a:pPr indent="0" marL="0">
              <a:spcAft>
                <a:spcPts val="800"/>
              </a:spcAft>
              <a:buNone/>
            </a:pPr>
            <a:r>
              <a:rPr lang="en-US" sz="1400" dirty="0">
                <a:solidFill>
                  <a:schemeClr val="accent6"/>
                </a:solidFill>
                <a:latin typeface="Courier New" pitchFamily="34" charset="0"/>
                <a:ea typeface="Courier New" pitchFamily="34" charset="-122"/>
                <a:cs typeface="Courier New" pitchFamily="34" charset="-120"/>
              </a:rPr>
              <a:t>nexus-test-worker</a:t>
            </a:r>
            <a:endParaRPr lang="en-US" sz="1400" dirty="0"/>
          </a:p>
          <a:p>
            <a:pPr indent="0" marL="0">
              <a:spcAft>
                <a:spcPts val="800"/>
              </a:spcAft>
              <a:buNone/>
            </a:pPr>
            <a:r>
              <a:rPr lang="en-US" sz="1400" dirty="0">
                <a:solidFill>
                  <a:schemeClr val="accent6"/>
                </a:solidFill>
                <a:latin typeface="Courier New" pitchFamily="34" charset="0"/>
                <a:ea typeface="Courier New" pitchFamily="34" charset="-122"/>
                <a:cs typeface="Courier New" pitchFamily="34" charset="-120"/>
              </a:rPr>
              <a:t>test_process.py</a:t>
            </a:r>
            <a:endParaRPr lang="en-US" sz="1400" dirty="0"/>
          </a:p>
        </p:txBody>
      </p:sp>
      <p:sp>
        <p:nvSpPr>
          <p:cNvPr id="22" name="Logger box"/>
          <p:cNvSpPr/>
          <p:nvPr/>
        </p:nvSpPr>
        <p:spPr>
          <a:xfrm>
            <a:off x="3291840" y="5166360"/>
            <a:ext cx="5120640" cy="914400"/>
          </a:xfrm>
          <a:prstGeom prst="roundRect">
            <a:avLst>
              <a:gd name="adj" fmla="val 10000"/>
            </a:avLst>
          </a:prstGeom>
          <a:solidFill>
            <a:schemeClr val="tx2"/>
          </a:solidFill>
          <a:ln/>
        </p:spPr>
      </p:sp>
      <p:sp>
        <p:nvSpPr>
          <p:cNvPr id="23" name="Logger circle"/>
          <p:cNvSpPr/>
          <p:nvPr/>
        </p:nvSpPr>
        <p:spPr>
          <a:xfrm>
            <a:off x="3474720" y="5394960"/>
            <a:ext cx="457200" cy="457200"/>
          </a:xfrm>
          <a:prstGeom prst="ellipse">
            <a:avLst/>
          </a:prstGeom>
          <a:solidFill>
            <a:schemeClr val="accent2"/>
          </a:solidFill>
          <a:ln/>
        </p:spPr>
      </p:sp>
      <p:pic>
        <p:nvPicPr>
          <p:cNvPr id="24" name="Image 2" descr="Logger">    </p:cNvPr>
          <p:cNvPicPr>
            <a:picLocks noChangeAspect="1"/>
          </p:cNvPicPr>
          <p:nvPr/>
        </p:nvPicPr>
        <p:blipFill>
          <a:blip r:embed="rId3"/>
          <a:stretch>
            <a:fillRect/>
          </a:stretch>
        </p:blipFill>
        <p:spPr>
          <a:xfrm>
            <a:off x="3602736" y="5522976"/>
            <a:ext cx="201168" cy="201168"/>
          </a:xfrm>
          <a:prstGeom prst="rect">
            <a:avLst/>
          </a:prstGeom>
        </p:spPr>
      </p:pic>
      <p:sp>
        <p:nvSpPr>
          <p:cNvPr id="25" name="Text 20"/>
          <p:cNvSpPr txBox="1"/>
          <p:nvPr/>
        </p:nvSpPr>
        <p:spPr>
          <a:xfrm>
            <a:off x="4114800" y="5166360"/>
            <a:ext cx="4206240" cy="914400"/>
          </a:xfrm>
          <a:prstGeom prst="rect">
            <a:avLst/>
          </a:prstGeom>
          <a:noFill/>
          <a:ln/>
        </p:spPr>
        <p:txBody>
          <a:bodyPr wrap="square" lIns="0" tIns="0" rIns="0" bIns="0" rtlCol="0" anchor="ctr"/>
          <a:lstStyle/>
          <a:p>
            <a:pPr indent="0" marL="0">
              <a:buNone/>
            </a:pPr>
            <a:r>
              <a:rPr lang="en-US" sz="1600" b="1" dirty="0">
                <a:solidFill>
                  <a:schemeClr val="bg1"/>
                </a:solidFill>
              </a:rPr>
              <a:t>SQLite store and alerts</a:t>
            </a:r>
            <a:endParaRPr lang="en-US" sz="1400" dirty="0"/>
          </a:p>
          <a:p>
            <a:pPr indent="0" marL="0">
              <a:buNone/>
            </a:pPr>
            <a:r>
              <a:rPr lang="en-US" sz="1400" dirty="0">
                <a:solidFill>
                  <a:schemeClr val="bg2"/>
                </a:solidFill>
              </a:rPr>
              <a:t>incidents, attempts, alerts, history</a:t>
            </a:r>
            <a:endParaRPr lang="en-US" sz="1400" dirty="0"/>
          </a:p>
        </p:txBody>
      </p:sp>
      <p:sp>
        <p:nvSpPr>
          <p:cNvPr id="26" name="Arrow"/>
          <p:cNvSpPr/>
          <p:nvPr/>
        </p:nvSpPr>
        <p:spPr>
          <a:xfrm>
            <a:off x="2560320" y="2743200"/>
            <a:ext cx="731520" cy="0"/>
          </a:xfrm>
          <a:prstGeom prst="line">
            <a:avLst/>
          </a:prstGeom>
          <a:noFill/>
          <a:ln w="28575">
            <a:solidFill>
              <a:schemeClr val="accent6"/>
            </a:solidFill>
            <a:prstDash val="solid"/>
            <a:tailEnd type="triangle"/>
          </a:ln>
        </p:spPr>
      </p:sp>
      <p:sp>
        <p:nvSpPr>
          <p:cNvPr id="27" name="Arrow"/>
          <p:cNvSpPr/>
          <p:nvPr/>
        </p:nvSpPr>
        <p:spPr>
          <a:xfrm>
            <a:off x="8412480" y="2377440"/>
            <a:ext cx="731520" cy="0"/>
          </a:xfrm>
          <a:prstGeom prst="line">
            <a:avLst/>
          </a:prstGeom>
          <a:noFill/>
          <a:ln w="28575">
            <a:solidFill>
              <a:schemeClr val="accent6"/>
            </a:solidFill>
            <a:prstDash val="solid"/>
            <a:tailEnd type="triangle"/>
          </a:ln>
        </p:spPr>
      </p:sp>
      <p:sp>
        <p:nvSpPr>
          <p:cNvPr id="28" name="Arrow"/>
          <p:cNvSpPr/>
          <p:nvPr/>
        </p:nvSpPr>
        <p:spPr>
          <a:xfrm flipH="1">
            <a:off x="8412480" y="3931920"/>
            <a:ext cx="731520" cy="0"/>
          </a:xfrm>
          <a:prstGeom prst="line">
            <a:avLst/>
          </a:prstGeom>
          <a:noFill/>
          <a:ln w="28575">
            <a:solidFill>
              <a:schemeClr val="accent6"/>
            </a:solidFill>
            <a:prstDash val="solid"/>
            <a:tailEnd type="triangle"/>
          </a:ln>
        </p:spPr>
      </p:sp>
      <p:sp>
        <p:nvSpPr>
          <p:cNvPr id="29" name="Text 24"/>
          <p:cNvSpPr txBox="1"/>
          <p:nvPr/>
        </p:nvSpPr>
        <p:spPr>
          <a:xfrm>
            <a:off x="8412480" y="2057400"/>
            <a:ext cx="731520" cy="274320"/>
          </a:xfrm>
          <a:prstGeom prst="rect">
            <a:avLst/>
          </a:prstGeom>
          <a:noFill/>
          <a:ln/>
        </p:spPr>
        <p:txBody>
          <a:bodyPr wrap="square" lIns="0" tIns="0" rIns="0" bIns="0" rtlCol="0" anchor="t"/>
          <a:lstStyle/>
          <a:p>
            <a:pPr algn="ctr" indent="0" marL="0">
              <a:buNone/>
            </a:pPr>
            <a:r>
              <a:rPr lang="en-US" sz="1200" dirty="0">
                <a:solidFill>
                  <a:schemeClr val="bg2"/>
                </a:solidFill>
              </a:rPr>
              <a:t>check</a:t>
            </a:r>
            <a:endParaRPr lang="en-US" sz="1200" dirty="0"/>
          </a:p>
        </p:txBody>
      </p:sp>
      <p:sp>
        <p:nvSpPr>
          <p:cNvPr id="30" name="Text 25"/>
          <p:cNvSpPr txBox="1"/>
          <p:nvPr/>
        </p:nvSpPr>
        <p:spPr>
          <a:xfrm>
            <a:off x="8412480" y="3611880"/>
            <a:ext cx="731520" cy="274320"/>
          </a:xfrm>
          <a:prstGeom prst="rect">
            <a:avLst/>
          </a:prstGeom>
          <a:noFill/>
          <a:ln/>
        </p:spPr>
        <p:txBody>
          <a:bodyPr wrap="square" lIns="0" tIns="0" rIns="0" bIns="0" rtlCol="0" anchor="t"/>
          <a:lstStyle/>
          <a:p>
            <a:pPr algn="ctr" indent="0" marL="0">
              <a:buNone/>
            </a:pPr>
            <a:r>
              <a:rPr lang="en-US" sz="1200" dirty="0">
                <a:solidFill>
                  <a:schemeClr val="bg2"/>
                </a:solidFill>
              </a:rPr>
              <a:t>status</a:t>
            </a:r>
            <a:endParaRPr lang="en-US" sz="1200" dirty="0"/>
          </a:p>
        </p:txBody>
      </p:sp>
      <p:sp>
        <p:nvSpPr>
          <p:cNvPr id="31" name="Arrow down"/>
          <p:cNvSpPr/>
          <p:nvPr/>
        </p:nvSpPr>
        <p:spPr>
          <a:xfrm>
            <a:off x="5852160" y="4846320"/>
            <a:ext cx="0" cy="320040"/>
          </a:xfrm>
          <a:prstGeom prst="line">
            <a:avLst/>
          </a:prstGeom>
          <a:noFill/>
          <a:ln w="28575">
            <a:solidFill>
              <a:schemeClr val="accent6"/>
            </a:solidFill>
            <a:prstDash val="solid"/>
            <a:tailEnd type="triangle"/>
          </a:ln>
        </p:spPr>
      </p:sp>
      <p:sp>
        <p:nvSpPr>
          <p:cNvPr id="32" name="Text 27"/>
          <p:cNvSpPr txBox="1"/>
          <p:nvPr/>
        </p:nvSpPr>
        <p:spPr>
          <a:xfrm>
            <a:off x="548640" y="3749040"/>
            <a:ext cx="2011680" cy="1097280"/>
          </a:xfrm>
          <a:prstGeom prst="rect">
            <a:avLst/>
          </a:prstGeom>
          <a:noFill/>
          <a:ln/>
        </p:spPr>
        <p:txBody>
          <a:bodyPr wrap="square" lIns="0" tIns="0" rIns="0" bIns="0" rtlCol="0" anchor="t"/>
          <a:lstStyle/>
          <a:p>
            <a:pPr indent="0" marL="0">
              <a:buNone/>
            </a:pPr>
            <a:r>
              <a:rPr lang="en-US" sz="1400" dirty="0">
                <a:solidFill>
                  <a:schemeClr val="bg2"/>
                </a:solidFill>
              </a:rPr>
              <a:t>Settings come from .env (interval, database, CORS); the dashboard reads data over REST</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Existing Technologies Compared</a:t>
            </a:r>
            <a:endParaRPr lang="en-US" sz="3600" dirty="0"/>
          </a:p>
        </p:txBody>
      </p:sp>
      <p:graphicFrame>
        <p:nvGraphicFramePr>
          <p:cNvPr id="8" name="Detection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94560"/>
                <a:gridCol w="3840480"/>
                <a:gridCol w="2834640"/>
                <a:gridCol w="2194560"/>
              </a:tblGrid>
              <a:tr h="457200">
                <a:tc>
                  <a:txBody>
                    <a:bodyPr/>
                    <a:lstStyle/>
                    <a:p>
                      <a:pPr indent="0" marL="0">
                        <a:buNone/>
                      </a:pPr>
                      <a:r>
                        <a:rPr lang="en-US" sz="1400" b="1" dirty="0">
                          <a:solidFill>
                            <a:srgbClr val="FFFFFF"/>
                          </a:solidFill>
                        </a:rPr>
                        <a:t>Technology</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D1117"/>
                    </a:solidFill>
                  </a:tcPr>
                </a:tc>
                <a:tc>
                  <a:txBody>
                    <a:bodyPr/>
                    <a:lstStyle/>
                    <a:p>
                      <a:pPr indent="0" marL="0">
                        <a:buNone/>
                      </a:pPr>
                      <a:r>
                        <a:rPr lang="en-US" sz="1400" b="1" dirty="0">
                          <a:solidFill>
                            <a:srgbClr val="FFFFFF"/>
                          </a:solidFill>
                        </a:rPr>
                        <a:t>How it works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D1117"/>
                    </a:solidFill>
                  </a:tcPr>
                </a:tc>
                <a:tc>
                  <a:txBody>
                    <a:bodyPr/>
                    <a:lstStyle/>
                    <a:p>
                      <a:pPr indent="0" marL="0">
                        <a:buNone/>
                      </a:pPr>
                      <a:r>
                        <a:rPr lang="en-US" sz="1400" b="1" dirty="0">
                          <a:solidFill>
                            <a:srgbClr val="FFFFFF"/>
                          </a:solidFill>
                        </a:rPr>
                        <a:t>Strength</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D1117"/>
                    </a:solidFill>
                  </a:tcPr>
                </a:tc>
                <a:tc>
                  <a:txBody>
                    <a:bodyPr/>
                    <a:lstStyle/>
                    <a:p>
                      <a:pPr indent="0" marL="0">
                        <a:buNone/>
                      </a:pPr>
                      <a:r>
                        <a:rPr lang="en-US" sz="1400" b="1" dirty="0">
                          <a:solidFill>
                            <a:srgbClr val="FFFFFF"/>
                          </a:solidFill>
                        </a:rPr>
                        <a:t>Typical gap</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D1117"/>
                    </a:solidFill>
                  </a:tcPr>
                </a:tc>
              </a:tr>
              <a:tr h="640080">
                <a:tc>
                  <a:txBody>
                    <a:bodyPr/>
                    <a:lstStyle/>
                    <a:p>
                      <a:pPr indent="0" marL="0">
                        <a:buNone/>
                      </a:pPr>
                      <a:r>
                        <a:rPr lang="en-US" sz="1400" b="1" dirty="0">
                          <a:solidFill>
                            <a:srgbClr val="1A7F37"/>
                          </a:solidFill>
                        </a:rPr>
                        <a:t>systemd Restart=</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Restarts failed units by policy</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Production grade</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No incident view</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A7F37"/>
                          </a:solidFill>
                        </a:rPr>
                        <a:t>supervisord</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rPr>
                        <a:t>Auto-restarts managed processes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rPr>
                        <a:t>Simple control</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rPr>
                        <a:t>Little incident history</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r>
              <a:tr h="640080">
                <a:tc>
                  <a:txBody>
                    <a:bodyPr/>
                    <a:lstStyle/>
                    <a:p>
                      <a:pPr indent="0" marL="0">
                        <a:buNone/>
                      </a:pPr>
                      <a:r>
                        <a:rPr lang="en-US" sz="1400" b="1" dirty="0">
                          <a:solidFill>
                            <a:srgbClr val="1A7F37"/>
                          </a:solidFill>
                        </a:rPr>
                        <a:t>Monit</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Watches, restarts, sends alerts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Mature, lightweight</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File-based, light history</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A7F37"/>
                          </a:solidFill>
                        </a:rPr>
                        <a:t>Docker / Kubernetes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rPr>
                        <a:t>Restart policy and probes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rPr>
                        <a:t>Standard for containers</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rPr>
                        <a:t>Needs container platform</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r>
              <a:tr h="640080">
                <a:tc>
                  <a:txBody>
                    <a:bodyPr/>
                    <a:lstStyle/>
                    <a:p>
                      <a:pPr indent="0" marL="0">
                        <a:buNone/>
                      </a:pPr>
                      <a:r>
                        <a:rPr lang="en-US" sz="1400" b="1" dirty="0">
                          <a:solidFill>
                            <a:srgbClr val="1A7F37"/>
                          </a:solidFill>
                        </a:rPr>
                        <a:t>Prometheus / Zabbix</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Metrics, dashboards, alerting</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Rich observability</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Alerts; recovery is extra</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bl>
          </a:graphicData>
        </a:graphic>
      </p:graphicFrame>
      <p:sp>
        <p:nvSpPr>
          <p:cNvPr id="4" name="Approach callout"/>
          <p:cNvSpPr/>
          <p:nvPr/>
        </p:nvSpPr>
        <p:spPr>
          <a:xfrm>
            <a:off x="548640" y="5349240"/>
            <a:ext cx="11064240" cy="777240"/>
          </a:xfrm>
          <a:prstGeom prst="roundRect">
            <a:avLst>
              <a:gd name="adj" fmla="val 11765"/>
            </a:avLst>
          </a:prstGeom>
          <a:solidFill>
            <a:schemeClr val="tx1"/>
          </a:solidFill>
          <a:ln/>
        </p:spPr>
      </p:sp>
      <p:sp>
        <p:nvSpPr>
          <p:cNvPr id="5" name="Approach circle"/>
          <p:cNvSpPr/>
          <p:nvPr/>
        </p:nvSpPr>
        <p:spPr>
          <a:xfrm>
            <a:off x="777240" y="5458968"/>
            <a:ext cx="548640" cy="548640"/>
          </a:xfrm>
          <a:prstGeom prst="ellipse">
            <a:avLst/>
          </a:prstGeom>
          <a:solidFill>
            <a:schemeClr val="accent6"/>
          </a:solidFill>
          <a:ln/>
        </p:spPr>
      </p:sp>
      <p:pic>
        <p:nvPicPr>
          <p:cNvPr id="6" name="Image 0" descr="Approach">    </p:cNvPr>
          <p:cNvPicPr>
            <a:picLocks noChangeAspect="1"/>
          </p:cNvPicPr>
          <p:nvPr/>
        </p:nvPicPr>
        <p:blipFill>
          <a:blip r:embed="rId1"/>
          <a:stretch>
            <a:fillRect/>
          </a:stretch>
        </p:blipFill>
        <p:spPr>
          <a:xfrm>
            <a:off x="930859" y="5612587"/>
            <a:ext cx="241402" cy="241402"/>
          </a:xfrm>
          <a:prstGeom prst="rect">
            <a:avLst/>
          </a:prstGeom>
        </p:spPr>
      </p:pic>
      <p:sp>
        <p:nvSpPr>
          <p:cNvPr id="7" name="Text 3"/>
          <p:cNvSpPr txBox="1"/>
          <p:nvPr/>
        </p:nvSpPr>
        <p:spPr>
          <a:xfrm>
            <a:off x="1554480" y="5349240"/>
            <a:ext cx="9784080" cy="777240"/>
          </a:xfrm>
          <a:prstGeom prst="rect">
            <a:avLst/>
          </a:prstGeom>
          <a:noFill/>
          <a:ln/>
        </p:spPr>
        <p:txBody>
          <a:bodyPr wrap="square" lIns="0" tIns="0" rIns="0" bIns="0" rtlCol="0" anchor="ctr"/>
          <a:lstStyle/>
          <a:p>
            <a:pPr indent="0" marL="0">
              <a:buNone/>
            </a:pPr>
            <a:r>
              <a:rPr lang="en-US" sz="1600" b="1" dirty="0">
                <a:solidFill>
                  <a:schemeClr val="accent6"/>
                </a:solidFill>
              </a:rPr>
              <a:t>What is new: </a:t>
            </a:r>
            <a:pPr indent="0" marL="0">
              <a:buNone/>
            </a:pPr>
            <a:r>
              <a:rPr lang="en-US" sz="1600" dirty="0">
                <a:solidFill>
                  <a:schemeClr val="bg1"/>
                </a:solidFill>
              </a:rPr>
              <a:t>restart, verify and record each recovery in one console. The restart itself is not new.</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Monitoring and Recovery Workflow</a:t>
            </a:r>
            <a:endParaRPr lang="en-US" sz="3600" dirty="0"/>
          </a:p>
        </p:txBody>
      </p:sp>
      <p:sp>
        <p:nvSpPr>
          <p:cNvPr id="3" name="Step 1"/>
          <p:cNvSpPr/>
          <p:nvPr/>
        </p:nvSpPr>
        <p:spPr>
          <a:xfrm>
            <a:off x="548640" y="1554480"/>
            <a:ext cx="1691640" cy="3017520"/>
          </a:xfrm>
          <a:prstGeom prst="roundRect">
            <a:avLst>
              <a:gd name="adj" fmla="val 5405"/>
            </a:avLst>
          </a:prstGeom>
          <a:solidFill>
            <a:schemeClr val="bg2"/>
          </a:solidFill>
          <a:ln/>
        </p:spPr>
      </p:sp>
      <p:sp>
        <p:nvSpPr>
          <p:cNvPr id="4" name="Step number 1"/>
          <p:cNvSpPr/>
          <p:nvPr/>
        </p:nvSpPr>
        <p:spPr>
          <a:xfrm>
            <a:off x="685800" y="1737360"/>
            <a:ext cx="548640" cy="548640"/>
          </a:xfrm>
          <a:prstGeom prst="ellipse">
            <a:avLst/>
          </a:prstGeom>
          <a:solidFill>
            <a:schemeClr val="accent1"/>
          </a:solidFill>
          <a:ln/>
        </p:spPr>
      </p:sp>
      <p:sp>
        <p:nvSpPr>
          <p:cNvPr id="5" name="Text 3"/>
          <p:cNvSpPr txBox="1"/>
          <p:nvPr/>
        </p:nvSpPr>
        <p:spPr>
          <a:xfrm>
            <a:off x="68580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685800" y="2468880"/>
            <a:ext cx="1463040" cy="201168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Start agent</a:t>
            </a:r>
            <a:endParaRPr lang="en-US" sz="1400" dirty="0"/>
          </a:p>
          <a:p>
            <a:pPr indent="0" marL="0">
              <a:spcAft>
                <a:spcPts val="600"/>
              </a:spcAft>
              <a:buNone/>
            </a:pPr>
            <a:r>
              <a:rPr lang="en-US" sz="1400" dirty="0">
                <a:solidFill>
                  <a:schemeClr val="accent5"/>
                </a:solidFill>
              </a:rPr>
              <a:t>Backend launches the monitor loop</a:t>
            </a:r>
            <a:endParaRPr lang="en-US" sz="1400" dirty="0"/>
          </a:p>
        </p:txBody>
      </p:sp>
      <p:sp>
        <p:nvSpPr>
          <p:cNvPr id="7" name="Step 2"/>
          <p:cNvSpPr/>
          <p:nvPr/>
        </p:nvSpPr>
        <p:spPr>
          <a:xfrm>
            <a:off x="2423160" y="1554480"/>
            <a:ext cx="1691640" cy="3017520"/>
          </a:xfrm>
          <a:prstGeom prst="roundRect">
            <a:avLst>
              <a:gd name="adj" fmla="val 5405"/>
            </a:avLst>
          </a:prstGeom>
          <a:solidFill>
            <a:schemeClr val="bg2"/>
          </a:solidFill>
          <a:ln/>
        </p:spPr>
      </p:sp>
      <p:sp>
        <p:nvSpPr>
          <p:cNvPr id="8" name="Step number 2"/>
          <p:cNvSpPr/>
          <p:nvPr/>
        </p:nvSpPr>
        <p:spPr>
          <a:xfrm>
            <a:off x="2560320" y="1737360"/>
            <a:ext cx="548640" cy="548640"/>
          </a:xfrm>
          <a:prstGeom prst="ellipse">
            <a:avLst/>
          </a:prstGeom>
          <a:solidFill>
            <a:schemeClr val="accent1"/>
          </a:solidFill>
          <a:ln/>
        </p:spPr>
      </p:sp>
      <p:sp>
        <p:nvSpPr>
          <p:cNvPr id="9" name="Text 7"/>
          <p:cNvSpPr txBox="1"/>
          <p:nvPr/>
        </p:nvSpPr>
        <p:spPr>
          <a:xfrm>
            <a:off x="256032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2560320" y="2468880"/>
            <a:ext cx="1463040" cy="201168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Poll</a:t>
            </a:r>
            <a:endParaRPr lang="en-US" sz="1400" dirty="0"/>
          </a:p>
          <a:p>
            <a:pPr indent="0" marL="0">
              <a:spcAft>
                <a:spcPts val="600"/>
              </a:spcAft>
              <a:buNone/>
            </a:pPr>
            <a:r>
              <a:rPr lang="en-US" sz="1400" dirty="0">
                <a:solidFill>
                  <a:schemeClr val="accent5"/>
                </a:solidFill>
              </a:rPr>
              <a:t>Check each registered process every 5 s</a:t>
            </a:r>
            <a:endParaRPr lang="en-US" sz="1400" dirty="0"/>
          </a:p>
        </p:txBody>
      </p:sp>
      <p:sp>
        <p:nvSpPr>
          <p:cNvPr id="11" name="Step 3"/>
          <p:cNvSpPr/>
          <p:nvPr/>
        </p:nvSpPr>
        <p:spPr>
          <a:xfrm>
            <a:off x="4297680" y="1554480"/>
            <a:ext cx="1691640" cy="3017520"/>
          </a:xfrm>
          <a:prstGeom prst="roundRect">
            <a:avLst>
              <a:gd name="adj" fmla="val 5405"/>
            </a:avLst>
          </a:prstGeom>
          <a:solidFill>
            <a:schemeClr val="bg2"/>
          </a:solidFill>
          <a:ln/>
        </p:spPr>
      </p:sp>
      <p:sp>
        <p:nvSpPr>
          <p:cNvPr id="12" name="Step number 3"/>
          <p:cNvSpPr/>
          <p:nvPr/>
        </p:nvSpPr>
        <p:spPr>
          <a:xfrm>
            <a:off x="4434840" y="1737360"/>
            <a:ext cx="548640" cy="548640"/>
          </a:xfrm>
          <a:prstGeom prst="ellipse">
            <a:avLst/>
          </a:prstGeom>
          <a:solidFill>
            <a:schemeClr val="accent1"/>
          </a:solidFill>
          <a:ln/>
        </p:spPr>
      </p:sp>
      <p:sp>
        <p:nvSpPr>
          <p:cNvPr id="13" name="Text 11"/>
          <p:cNvSpPr txBox="1"/>
          <p:nvPr/>
        </p:nvSpPr>
        <p:spPr>
          <a:xfrm>
            <a:off x="443484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2"/>
          <p:cNvSpPr txBox="1"/>
          <p:nvPr/>
        </p:nvSpPr>
        <p:spPr>
          <a:xfrm>
            <a:off x="4434840" y="2468880"/>
            <a:ext cx="1463040" cy="201168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Detect</a:t>
            </a:r>
            <a:endParaRPr lang="en-US" sz="1400" dirty="0"/>
          </a:p>
          <a:p>
            <a:pPr indent="0" marL="0">
              <a:spcAft>
                <a:spcPts val="600"/>
              </a:spcAft>
              <a:buNone/>
            </a:pPr>
            <a:r>
              <a:rPr lang="en-US" sz="1400" dirty="0">
                <a:solidFill>
                  <a:schemeClr val="accent5"/>
                </a:solidFill>
              </a:rPr>
              <a:t>Missing, zombie or wrong identity?</a:t>
            </a:r>
            <a:endParaRPr lang="en-US" sz="1400" dirty="0"/>
          </a:p>
        </p:txBody>
      </p:sp>
      <p:sp>
        <p:nvSpPr>
          <p:cNvPr id="15" name="Step 4"/>
          <p:cNvSpPr/>
          <p:nvPr/>
        </p:nvSpPr>
        <p:spPr>
          <a:xfrm>
            <a:off x="6172200" y="1554480"/>
            <a:ext cx="1691640" cy="3017520"/>
          </a:xfrm>
          <a:prstGeom prst="roundRect">
            <a:avLst>
              <a:gd name="adj" fmla="val 5405"/>
            </a:avLst>
          </a:prstGeom>
          <a:solidFill>
            <a:schemeClr val="bg2"/>
          </a:solidFill>
          <a:ln/>
        </p:spPr>
      </p:sp>
      <p:sp>
        <p:nvSpPr>
          <p:cNvPr id="16" name="Step number 4"/>
          <p:cNvSpPr/>
          <p:nvPr/>
        </p:nvSpPr>
        <p:spPr>
          <a:xfrm>
            <a:off x="6309360" y="1737360"/>
            <a:ext cx="548640" cy="548640"/>
          </a:xfrm>
          <a:prstGeom prst="ellipse">
            <a:avLst/>
          </a:prstGeom>
          <a:solidFill>
            <a:schemeClr val="accent1"/>
          </a:solidFill>
          <a:ln/>
        </p:spPr>
      </p:sp>
      <p:sp>
        <p:nvSpPr>
          <p:cNvPr id="17" name="Text 15"/>
          <p:cNvSpPr txBox="1"/>
          <p:nvPr/>
        </p:nvSpPr>
        <p:spPr>
          <a:xfrm>
            <a:off x="630936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6"/>
          <p:cNvSpPr txBox="1"/>
          <p:nvPr/>
        </p:nvSpPr>
        <p:spPr>
          <a:xfrm>
            <a:off x="6309360" y="2468880"/>
            <a:ext cx="1463040" cy="201168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Record</a:t>
            </a:r>
            <a:endParaRPr lang="en-US" sz="1400" dirty="0"/>
          </a:p>
          <a:p>
            <a:pPr indent="0" marL="0">
              <a:spcAft>
                <a:spcPts val="600"/>
              </a:spcAft>
              <a:buNone/>
            </a:pPr>
            <a:r>
              <a:rPr lang="en-US" sz="1400" dirty="0">
                <a:solidFill>
                  <a:schemeClr val="accent5"/>
                </a:solidFill>
              </a:rPr>
              <a:t>Open incident, add timeline event</a:t>
            </a:r>
            <a:endParaRPr lang="en-US" sz="1400" dirty="0"/>
          </a:p>
        </p:txBody>
      </p:sp>
      <p:sp>
        <p:nvSpPr>
          <p:cNvPr id="19" name="Step 5"/>
          <p:cNvSpPr/>
          <p:nvPr/>
        </p:nvSpPr>
        <p:spPr>
          <a:xfrm>
            <a:off x="8046720" y="1554480"/>
            <a:ext cx="1691640" cy="3017520"/>
          </a:xfrm>
          <a:prstGeom prst="roundRect">
            <a:avLst>
              <a:gd name="adj" fmla="val 5405"/>
            </a:avLst>
          </a:prstGeom>
          <a:solidFill>
            <a:schemeClr val="bg2"/>
          </a:solidFill>
          <a:ln/>
        </p:spPr>
      </p:sp>
      <p:sp>
        <p:nvSpPr>
          <p:cNvPr id="20" name="Step number 5"/>
          <p:cNvSpPr/>
          <p:nvPr/>
        </p:nvSpPr>
        <p:spPr>
          <a:xfrm>
            <a:off x="8183880" y="1737360"/>
            <a:ext cx="548640" cy="548640"/>
          </a:xfrm>
          <a:prstGeom prst="ellipse">
            <a:avLst/>
          </a:prstGeom>
          <a:solidFill>
            <a:schemeClr val="accent1"/>
          </a:solidFill>
          <a:ln/>
        </p:spPr>
      </p:sp>
      <p:sp>
        <p:nvSpPr>
          <p:cNvPr id="21" name="Text 19"/>
          <p:cNvSpPr txBox="1"/>
          <p:nvPr/>
        </p:nvSpPr>
        <p:spPr>
          <a:xfrm>
            <a:off x="818388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2" name="Text 20"/>
          <p:cNvSpPr txBox="1"/>
          <p:nvPr/>
        </p:nvSpPr>
        <p:spPr>
          <a:xfrm>
            <a:off x="8183880" y="2468880"/>
            <a:ext cx="1463040" cy="201168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Restart</a:t>
            </a:r>
            <a:endParaRPr lang="en-US" sz="1400" dirty="0"/>
          </a:p>
          <a:p>
            <a:pPr indent="0" marL="0">
              <a:spcAft>
                <a:spcPts val="600"/>
              </a:spcAft>
              <a:buNone/>
            </a:pPr>
            <a:r>
              <a:rPr lang="en-US" sz="1400" dirty="0">
                <a:solidFill>
                  <a:schemeClr val="accent5"/>
                </a:solidFill>
              </a:rPr>
              <a:t>Policy check, then restart</a:t>
            </a:r>
            <a:endParaRPr lang="en-US" sz="1400" dirty="0"/>
          </a:p>
        </p:txBody>
      </p:sp>
      <p:sp>
        <p:nvSpPr>
          <p:cNvPr id="23" name="Step 6"/>
          <p:cNvSpPr/>
          <p:nvPr/>
        </p:nvSpPr>
        <p:spPr>
          <a:xfrm>
            <a:off x="9921240" y="1554480"/>
            <a:ext cx="1691640" cy="3017520"/>
          </a:xfrm>
          <a:prstGeom prst="roundRect">
            <a:avLst>
              <a:gd name="adj" fmla="val 5405"/>
            </a:avLst>
          </a:prstGeom>
          <a:solidFill>
            <a:schemeClr val="bg2"/>
          </a:solidFill>
          <a:ln/>
        </p:spPr>
      </p:sp>
      <p:sp>
        <p:nvSpPr>
          <p:cNvPr id="24" name="Step number 6"/>
          <p:cNvSpPr/>
          <p:nvPr/>
        </p:nvSpPr>
        <p:spPr>
          <a:xfrm>
            <a:off x="10058400" y="1737360"/>
            <a:ext cx="548640" cy="548640"/>
          </a:xfrm>
          <a:prstGeom prst="ellipse">
            <a:avLst/>
          </a:prstGeom>
          <a:solidFill>
            <a:schemeClr val="accent2"/>
          </a:solidFill>
          <a:ln/>
        </p:spPr>
      </p:sp>
      <p:sp>
        <p:nvSpPr>
          <p:cNvPr id="25" name="Text 23"/>
          <p:cNvSpPr txBox="1"/>
          <p:nvPr/>
        </p:nvSpPr>
        <p:spPr>
          <a:xfrm>
            <a:off x="10058400" y="173736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6</a:t>
            </a:r>
            <a:endParaRPr lang="en-US" sz="2000" dirty="0"/>
          </a:p>
        </p:txBody>
      </p:sp>
      <p:sp>
        <p:nvSpPr>
          <p:cNvPr id="26" name="Text 24"/>
          <p:cNvSpPr txBox="1"/>
          <p:nvPr/>
        </p:nvSpPr>
        <p:spPr>
          <a:xfrm>
            <a:off x="10058400" y="2468880"/>
            <a:ext cx="1463040" cy="201168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Verify and alert</a:t>
            </a:r>
            <a:endParaRPr lang="en-US" sz="1400" dirty="0"/>
          </a:p>
          <a:p>
            <a:pPr indent="0" marL="0">
              <a:spcAft>
                <a:spcPts val="600"/>
              </a:spcAft>
              <a:buNone/>
            </a:pPr>
            <a:r>
              <a:rPr lang="en-US" sz="1400" dirty="0">
                <a:solidFill>
                  <a:schemeClr val="accent5"/>
                </a:solidFill>
              </a:rPr>
              <a:t>Alive in 3 s plus health check; alert</a:t>
            </a:r>
            <a:endParaRPr lang="en-US" sz="1400" dirty="0"/>
          </a:p>
        </p:txBody>
      </p:sp>
      <p:sp>
        <p:nvSpPr>
          <p:cNvPr id="27" name="Loop banner"/>
          <p:cNvSpPr/>
          <p:nvPr/>
        </p:nvSpPr>
        <p:spPr>
          <a:xfrm>
            <a:off x="548640" y="4892040"/>
            <a:ext cx="11064240" cy="1188720"/>
          </a:xfrm>
          <a:prstGeom prst="roundRect">
            <a:avLst>
              <a:gd name="adj" fmla="val 7692"/>
            </a:avLst>
          </a:prstGeom>
          <a:solidFill>
            <a:schemeClr val="tx1"/>
          </a:solidFill>
          <a:ln/>
        </p:spPr>
      </p:sp>
      <p:sp>
        <p:nvSpPr>
          <p:cNvPr id="28" name="Loop circle"/>
          <p:cNvSpPr/>
          <p:nvPr/>
        </p:nvSpPr>
        <p:spPr>
          <a:xfrm>
            <a:off x="822960" y="5212080"/>
            <a:ext cx="548640" cy="548640"/>
          </a:xfrm>
          <a:prstGeom prst="ellipse">
            <a:avLst/>
          </a:prstGeom>
          <a:solidFill>
            <a:schemeClr val="accent1"/>
          </a:solidFill>
          <a:ln/>
        </p:spPr>
      </p:sp>
      <p:pic>
        <p:nvPicPr>
          <p:cNvPr id="29" name="Image 0" descr="Loop">    </p:cNvPr>
          <p:cNvPicPr>
            <a:picLocks noChangeAspect="1"/>
          </p:cNvPicPr>
          <p:nvPr/>
        </p:nvPicPr>
        <p:blipFill>
          <a:blip r:embed="rId1"/>
          <a:stretch>
            <a:fillRect/>
          </a:stretch>
        </p:blipFill>
        <p:spPr>
          <a:xfrm>
            <a:off x="976579" y="5365699"/>
            <a:ext cx="241402" cy="241402"/>
          </a:xfrm>
          <a:prstGeom prst="rect">
            <a:avLst/>
          </a:prstGeom>
        </p:spPr>
      </p:pic>
      <p:sp>
        <p:nvSpPr>
          <p:cNvPr id="30" name="Text 27"/>
          <p:cNvSpPr txBox="1"/>
          <p:nvPr/>
        </p:nvSpPr>
        <p:spPr>
          <a:xfrm>
            <a:off x="1645920" y="4892040"/>
            <a:ext cx="9692640" cy="1188720"/>
          </a:xfrm>
          <a:prstGeom prst="rect">
            <a:avLst/>
          </a:prstGeom>
          <a:noFill/>
          <a:ln/>
        </p:spPr>
        <p:txBody>
          <a:bodyPr wrap="square" lIns="0" tIns="0" rIns="0" bIns="0" rtlCol="0" anchor="ctr"/>
          <a:lstStyle/>
          <a:p>
            <a:pPr indent="0" marL="0">
              <a:buNone/>
            </a:pPr>
            <a:r>
              <a:rPr lang="en-US" sz="1600" b="1" dirty="0">
                <a:solidFill>
                  <a:schemeClr val="accent6"/>
                </a:solidFill>
              </a:rPr>
              <a:t>Continuous loop. </a:t>
            </a:r>
            <a:pPr indent="0" marL="0">
              <a:buNone/>
            </a:pPr>
            <a:r>
              <a:rPr lang="en-US" sz="1600" dirty="0">
                <a:solidFill>
                  <a:schemeClr val="bg1"/>
                </a:solidFill>
              </a:rPr>
              <a:t>Healthy processes cost one lightweight check per cycle. After a recovery the agent sleeps for the monitor interval (default 5 s, minimum 2 s) and repeats.</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Recovery Policy: Limits and Verification</a:t>
            </a:r>
            <a:endParaRPr lang="en-US" sz="3600" dirty="0"/>
          </a:p>
        </p:txBody>
      </p:sp>
      <p:sp>
        <p:nvSpPr>
          <p:cNvPr id="3" name="Chart card"/>
          <p:cNvSpPr/>
          <p:nvPr/>
        </p:nvSpPr>
        <p:spPr>
          <a:xfrm>
            <a:off x="548640" y="1463040"/>
            <a:ext cx="6126480" cy="4663440"/>
          </a:xfrm>
          <a:prstGeom prst="roundRect">
            <a:avLst>
              <a:gd name="adj" fmla="val 1961"/>
            </a:avLst>
          </a:prstGeom>
          <a:solidFill>
            <a:schemeClr val="bg2"/>
          </a:solidFill>
          <a:ln/>
        </p:spPr>
      </p:sp>
      <p:graphicFrame>
        <p:nvGraphicFramePr>
          <p:cNvPr id="4" name="Chart 0" descr=""/>
          <p:cNvGraphicFramePr/>
          <p:nvPr/>
        </p:nvGraphicFramePr>
        <p:xfrm>
          <a:off x="731520" y="1600200"/>
          <a:ext cx="5760720" cy="4389120"/>
        </p:xfrm>
        <a:graphic xmlns:a="http://schemas.openxmlformats.org/drawingml/2006/main">
          <a:graphicData uri="http://schemas.openxmlformats.org/drawingml/2006/chart">
            <c:chart xmlns:c="http://schemas.openxmlformats.org/drawingml/2006/chart" r:id="rId1"/>
          </a:graphicData>
        </a:graphic>
      </p:graphicFrame>
      <p:sp>
        <p:nvSpPr>
          <p:cNvPr id="5" name="Exponential backoff circle"/>
          <p:cNvSpPr/>
          <p:nvPr/>
        </p:nvSpPr>
        <p:spPr>
          <a:xfrm>
            <a:off x="7040880" y="1623060"/>
            <a:ext cx="594360" cy="594360"/>
          </a:xfrm>
          <a:prstGeom prst="ellipse">
            <a:avLst/>
          </a:prstGeom>
          <a:solidFill>
            <a:schemeClr val="accent1"/>
          </a:solidFill>
          <a:ln/>
        </p:spPr>
      </p:sp>
      <p:pic>
        <p:nvPicPr>
          <p:cNvPr id="6" name="Image 0" descr="Exponential backoff">    </p:cNvPr>
          <p:cNvPicPr>
            <a:picLocks noChangeAspect="1"/>
          </p:cNvPicPr>
          <p:nvPr/>
        </p:nvPicPr>
        <p:blipFill>
          <a:blip r:embed="rId2"/>
          <a:stretch>
            <a:fillRect/>
          </a:stretch>
        </p:blipFill>
        <p:spPr>
          <a:xfrm>
            <a:off x="7207301" y="1789481"/>
            <a:ext cx="261518" cy="261518"/>
          </a:xfrm>
          <a:prstGeom prst="rect">
            <a:avLst/>
          </a:prstGeom>
        </p:spPr>
      </p:pic>
      <p:sp>
        <p:nvSpPr>
          <p:cNvPr id="7" name="Text 3"/>
          <p:cNvSpPr txBox="1"/>
          <p:nvPr/>
        </p:nvSpPr>
        <p:spPr>
          <a:xfrm>
            <a:off x="7818120" y="1463040"/>
            <a:ext cx="3794760" cy="914400"/>
          </a:xfrm>
          <a:prstGeom prst="rect">
            <a:avLst/>
          </a:prstGeom>
          <a:noFill/>
          <a:ln/>
        </p:spPr>
        <p:txBody>
          <a:bodyPr wrap="square" lIns="0" tIns="0" rIns="0" bIns="0" rtlCol="0" anchor="ctr"/>
          <a:lstStyle/>
          <a:p>
            <a:pPr indent="0" marL="0">
              <a:buNone/>
            </a:pPr>
            <a:r>
              <a:rPr lang="en-US" sz="1600" b="1" dirty="0">
                <a:solidFill>
                  <a:schemeClr val="tx1"/>
                </a:solidFill>
              </a:rPr>
              <a:t>Allowlist first</a:t>
            </a:r>
            <a:endParaRPr lang="en-US" sz="1400" dirty="0"/>
          </a:p>
          <a:p>
            <a:pPr indent="0" marL="0">
              <a:buNone/>
            </a:pPr>
            <a:r>
              <a:rPr lang="en-US" sz="1400" dirty="0">
                <a:solidFill>
                  <a:schemeClr val="accent5"/>
                </a:solidFill>
              </a:rPr>
              <a:t>Only test_process.py can be restarted</a:t>
            </a:r>
            <a:endParaRPr lang="en-US" sz="1400" dirty="0"/>
          </a:p>
        </p:txBody>
      </p:sp>
      <p:sp>
        <p:nvSpPr>
          <p:cNvPr id="8" name="Rate limit circle"/>
          <p:cNvSpPr/>
          <p:nvPr/>
        </p:nvSpPr>
        <p:spPr>
          <a:xfrm>
            <a:off x="7040880" y="2720340"/>
            <a:ext cx="594360" cy="594360"/>
          </a:xfrm>
          <a:prstGeom prst="ellipse">
            <a:avLst/>
          </a:prstGeom>
          <a:solidFill>
            <a:schemeClr val="accent1"/>
          </a:solidFill>
          <a:ln/>
        </p:spPr>
      </p:sp>
      <p:pic>
        <p:nvPicPr>
          <p:cNvPr id="9" name="Image 1" descr="Rate limit">    </p:cNvPr>
          <p:cNvPicPr>
            <a:picLocks noChangeAspect="1"/>
          </p:cNvPicPr>
          <p:nvPr/>
        </p:nvPicPr>
        <p:blipFill>
          <a:blip r:embed="rId3"/>
          <a:stretch>
            <a:fillRect/>
          </a:stretch>
        </p:blipFill>
        <p:spPr>
          <a:xfrm>
            <a:off x="7207301" y="2886761"/>
            <a:ext cx="261518" cy="261518"/>
          </a:xfrm>
          <a:prstGeom prst="rect">
            <a:avLst/>
          </a:prstGeom>
        </p:spPr>
      </p:pic>
      <p:sp>
        <p:nvSpPr>
          <p:cNvPr id="10" name="Text 5"/>
          <p:cNvSpPr txBox="1"/>
          <p:nvPr/>
        </p:nvSpPr>
        <p:spPr>
          <a:xfrm>
            <a:off x="7818120" y="2560320"/>
            <a:ext cx="3794760" cy="914400"/>
          </a:xfrm>
          <a:prstGeom prst="rect">
            <a:avLst/>
          </a:prstGeom>
          <a:noFill/>
          <a:ln/>
        </p:spPr>
        <p:txBody>
          <a:bodyPr wrap="square" lIns="0" tIns="0" rIns="0" bIns="0" rtlCol="0" anchor="ctr"/>
          <a:lstStyle/>
          <a:p>
            <a:pPr indent="0" marL="0">
              <a:buNone/>
            </a:pPr>
            <a:r>
              <a:rPr lang="en-US" sz="1600" b="1" dirty="0">
                <a:solidFill>
                  <a:schemeClr val="tx1"/>
                </a:solidFill>
              </a:rPr>
              <a:t>Attempt limit</a:t>
            </a:r>
            <a:endParaRPr lang="en-US" sz="1400" dirty="0"/>
          </a:p>
          <a:p>
            <a:pPr indent="0" marL="0">
              <a:buNone/>
            </a:pPr>
            <a:r>
              <a:rPr lang="en-US" sz="1400" dirty="0">
                <a:solidFill>
                  <a:schemeClr val="accent5"/>
                </a:solidFill>
              </a:rPr>
              <a:t>Policy maximum attempts (default 3)</a:t>
            </a:r>
            <a:endParaRPr lang="en-US" sz="1400" dirty="0"/>
          </a:p>
        </p:txBody>
      </p:sp>
      <p:sp>
        <p:nvSpPr>
          <p:cNvPr id="11" name="Give up and alert circle"/>
          <p:cNvSpPr/>
          <p:nvPr/>
        </p:nvSpPr>
        <p:spPr>
          <a:xfrm>
            <a:off x="7040880" y="3817620"/>
            <a:ext cx="594360" cy="594360"/>
          </a:xfrm>
          <a:prstGeom prst="ellipse">
            <a:avLst/>
          </a:prstGeom>
          <a:solidFill>
            <a:schemeClr val="accent4"/>
          </a:solidFill>
          <a:ln/>
        </p:spPr>
      </p:sp>
      <p:pic>
        <p:nvPicPr>
          <p:cNvPr id="12" name="Image 2" descr="Give up and alert">    </p:cNvPr>
          <p:cNvPicPr>
            <a:picLocks noChangeAspect="1"/>
          </p:cNvPicPr>
          <p:nvPr/>
        </p:nvPicPr>
        <p:blipFill>
          <a:blip r:embed="rId4"/>
          <a:stretch>
            <a:fillRect/>
          </a:stretch>
        </p:blipFill>
        <p:spPr>
          <a:xfrm>
            <a:off x="7207301" y="3984041"/>
            <a:ext cx="261518" cy="261518"/>
          </a:xfrm>
          <a:prstGeom prst="rect">
            <a:avLst/>
          </a:prstGeom>
        </p:spPr>
      </p:pic>
      <p:sp>
        <p:nvSpPr>
          <p:cNvPr id="13" name="Text 7"/>
          <p:cNvSpPr txBox="1"/>
          <p:nvPr/>
        </p:nvSpPr>
        <p:spPr>
          <a:xfrm>
            <a:off x="7818120" y="3657600"/>
            <a:ext cx="3794760" cy="914400"/>
          </a:xfrm>
          <a:prstGeom prst="rect">
            <a:avLst/>
          </a:prstGeom>
          <a:noFill/>
          <a:ln/>
        </p:spPr>
        <p:txBody>
          <a:bodyPr wrap="square" lIns="0" tIns="0" rIns="0" bIns="0" rtlCol="0" anchor="ctr"/>
          <a:lstStyle/>
          <a:p>
            <a:pPr indent="0" marL="0">
              <a:buNone/>
            </a:pPr>
            <a:r>
              <a:rPr lang="en-US" sz="1600" b="1" dirty="0">
                <a:solidFill>
                  <a:schemeClr val="tx1"/>
                </a:solidFill>
              </a:rPr>
              <a:t>Cooldown</a:t>
            </a:r>
            <a:endParaRPr lang="en-US" sz="1400" dirty="0"/>
          </a:p>
          <a:p>
            <a:pPr indent="0" marL="0">
              <a:buNone/>
            </a:pPr>
            <a:r>
              <a:rPr lang="en-US" sz="1400" dirty="0">
                <a:solidFill>
                  <a:schemeClr val="accent5"/>
                </a:solidFill>
              </a:rPr>
              <a:t>Seconds between attempts (default 5 s)</a:t>
            </a:r>
            <a:endParaRPr lang="en-US" sz="1400" dirty="0"/>
          </a:p>
        </p:txBody>
      </p:sp>
      <p:sp>
        <p:nvSpPr>
          <p:cNvPr id="14" name="Reset on stability circle"/>
          <p:cNvSpPr/>
          <p:nvPr/>
        </p:nvSpPr>
        <p:spPr>
          <a:xfrm>
            <a:off x="7040880" y="4914900"/>
            <a:ext cx="594360" cy="594360"/>
          </a:xfrm>
          <a:prstGeom prst="ellipse">
            <a:avLst/>
          </a:prstGeom>
          <a:solidFill>
            <a:schemeClr val="accent1"/>
          </a:solidFill>
          <a:ln/>
        </p:spPr>
      </p:sp>
      <p:pic>
        <p:nvPicPr>
          <p:cNvPr id="15" name="Image 3" descr="Reset on stability">    </p:cNvPr>
          <p:cNvPicPr>
            <a:picLocks noChangeAspect="1"/>
          </p:cNvPicPr>
          <p:nvPr/>
        </p:nvPicPr>
        <p:blipFill>
          <a:blip r:embed="rId5"/>
          <a:stretch>
            <a:fillRect/>
          </a:stretch>
        </p:blipFill>
        <p:spPr>
          <a:xfrm>
            <a:off x="7207301" y="5081321"/>
            <a:ext cx="261518" cy="261518"/>
          </a:xfrm>
          <a:prstGeom prst="rect">
            <a:avLst/>
          </a:prstGeom>
        </p:spPr>
      </p:pic>
      <p:sp>
        <p:nvSpPr>
          <p:cNvPr id="16" name="Text 9"/>
          <p:cNvSpPr txBox="1"/>
          <p:nvPr/>
        </p:nvSpPr>
        <p:spPr>
          <a:xfrm>
            <a:off x="7818120" y="4754880"/>
            <a:ext cx="3794760" cy="914400"/>
          </a:xfrm>
          <a:prstGeom prst="rect">
            <a:avLst/>
          </a:prstGeom>
          <a:noFill/>
          <a:ln/>
        </p:spPr>
        <p:txBody>
          <a:bodyPr wrap="square" lIns="0" tIns="0" rIns="0" bIns="0" rtlCol="0" anchor="ctr"/>
          <a:lstStyle/>
          <a:p>
            <a:pPr indent="0" marL="0">
              <a:buNone/>
            </a:pPr>
            <a:r>
              <a:rPr lang="en-US" sz="1600" b="1" dirty="0">
                <a:solidFill>
                  <a:schemeClr val="tx1"/>
                </a:solidFill>
              </a:rPr>
              <a:t>Verify before success</a:t>
            </a:r>
            <a:endParaRPr lang="en-US" sz="1400" dirty="0"/>
          </a:p>
          <a:p>
            <a:pPr indent="0" marL="0">
              <a:buNone/>
            </a:pPr>
            <a:r>
              <a:rPr lang="en-US" sz="1400" dirty="0">
                <a:solidFill>
                  <a:schemeClr val="accent5"/>
                </a:solidFill>
              </a:rPr>
              <a:t>Running within 3 s plus health check</a:t>
            </a:r>
            <a:endParaRPr lang="en-US" sz="1400" dirty="0"/>
          </a:p>
        </p:txBody>
      </p:sp>
      <p:sp>
        <p:nvSpPr>
          <p:cNvPr id="17" name="Text 10"/>
          <p:cNvSpPr txBox="1"/>
          <p:nvPr/>
        </p:nvSpPr>
        <p:spPr>
          <a:xfrm>
            <a:off x="7040880" y="5852160"/>
            <a:ext cx="4572000" cy="274320"/>
          </a:xfrm>
          <a:prstGeom prst="rect">
            <a:avLst/>
          </a:prstGeom>
          <a:noFill/>
          <a:ln/>
        </p:spPr>
        <p:txBody>
          <a:bodyPr wrap="square" lIns="0" tIns="0" rIns="0" bIns="0" rtlCol="0" anchor="t"/>
          <a:lstStyle/>
          <a:p>
            <a:pPr indent="0" marL="0">
              <a:buNone/>
            </a:pPr>
            <a:r>
              <a:rPr lang="en-US" sz="1200" dirty="0">
                <a:solidFill>
                  <a:schemeClr val="accent5"/>
                </a:solidFill>
              </a:rPr>
              <a:t>Local re-test, not a benchmark. Auto-retry up to the limit is planned.</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Incidents, Alerts and Self-Protection</a:t>
            </a:r>
            <a:endParaRPr lang="en-US" sz="3600" dirty="0"/>
          </a:p>
        </p:txBody>
      </p:sp>
      <p:sp>
        <p:nvSpPr>
          <p:cNvPr id="3" name="Logging"/>
          <p:cNvSpPr/>
          <p:nvPr/>
        </p:nvSpPr>
        <p:spPr>
          <a:xfrm>
            <a:off x="548640" y="1463040"/>
            <a:ext cx="3566160" cy="2651760"/>
          </a:xfrm>
          <a:prstGeom prst="roundRect">
            <a:avLst>
              <a:gd name="adj" fmla="val 3448"/>
            </a:avLst>
          </a:prstGeom>
          <a:solidFill>
            <a:schemeClr val="bg2"/>
          </a:solidFill>
          <a:ln/>
        </p:spPr>
      </p:sp>
      <p:sp>
        <p:nvSpPr>
          <p:cNvPr id="4" name="Logging circle"/>
          <p:cNvSpPr/>
          <p:nvPr/>
        </p:nvSpPr>
        <p:spPr>
          <a:xfrm>
            <a:off x="822960" y="1691640"/>
            <a:ext cx="548640" cy="548640"/>
          </a:xfrm>
          <a:prstGeom prst="ellipse">
            <a:avLst/>
          </a:prstGeom>
          <a:solidFill>
            <a:schemeClr val="accent1"/>
          </a:solidFill>
          <a:ln/>
        </p:spPr>
      </p:sp>
      <p:pic>
        <p:nvPicPr>
          <p:cNvPr id="5" name="Image 0" descr="Logging">    </p:cNvPr>
          <p:cNvPicPr>
            <a:picLocks noChangeAspect="1"/>
          </p:cNvPicPr>
          <p:nvPr/>
        </p:nvPicPr>
        <p:blipFill>
          <a:blip r:embed="rId1"/>
          <a:stretch>
            <a:fillRect/>
          </a:stretch>
        </p:blipFill>
        <p:spPr>
          <a:xfrm>
            <a:off x="976579" y="1845259"/>
            <a:ext cx="241402" cy="241402"/>
          </a:xfrm>
          <a:prstGeom prst="rect">
            <a:avLst/>
          </a:prstGeom>
        </p:spPr>
      </p:pic>
      <p:sp>
        <p:nvSpPr>
          <p:cNvPr id="6" name="Text 3"/>
          <p:cNvSpPr txBox="1"/>
          <p:nvPr/>
        </p:nvSpPr>
        <p:spPr>
          <a:xfrm>
            <a:off x="1554480" y="1691640"/>
            <a:ext cx="2377440" cy="548640"/>
          </a:xfrm>
          <a:prstGeom prst="rect">
            <a:avLst/>
          </a:prstGeom>
          <a:noFill/>
          <a:ln/>
        </p:spPr>
        <p:txBody>
          <a:bodyPr wrap="square" lIns="0" tIns="0" rIns="0" bIns="0" rtlCol="0" anchor="ctr"/>
          <a:lstStyle/>
          <a:p>
            <a:pPr indent="0" marL="0">
              <a:buNone/>
            </a:pPr>
            <a:r>
              <a:rPr lang="en-US" sz="2000" b="1" dirty="0">
                <a:solidFill>
                  <a:schemeClr val="tx1"/>
                </a:solidFill>
              </a:rPr>
              <a:t>Incident records</a:t>
            </a:r>
            <a:endParaRPr lang="en-US" sz="2000" dirty="0"/>
          </a:p>
        </p:txBody>
      </p:sp>
      <p:sp>
        <p:nvSpPr>
          <p:cNvPr id="7" name="Text 4"/>
          <p:cNvSpPr txBox="1"/>
          <p:nvPr/>
        </p:nvSpPr>
        <p:spPr>
          <a:xfrm>
            <a:off x="822960" y="246888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ID, type, severity, status, attempts</a:t>
            </a:r>
            <a:endParaRPr lang="en-US" sz="1400" dirty="0"/>
          </a:p>
          <a:p>
            <a:pPr marL="342900" indent="-342900">
              <a:spcAft>
                <a:spcPts val="600"/>
              </a:spcAft>
              <a:buSzPct val="100000"/>
              <a:buChar char="•"/>
            </a:pPr>
            <a:r>
              <a:rPr lang="en-US" sz="1400" dirty="0">
                <a:solidFill>
                  <a:schemeClr val="tx1"/>
                </a:solidFill>
              </a:rPr>
              <a:t>Timeline: detected, attempted, verified</a:t>
            </a:r>
            <a:endParaRPr lang="en-US" sz="1400" dirty="0"/>
          </a:p>
          <a:p>
            <a:pPr marL="342900" indent="-342900">
              <a:spcAft>
                <a:spcPts val="600"/>
              </a:spcAft>
              <a:buSzPct val="100000"/>
              <a:buChar char="•"/>
            </a:pPr>
            <a:r>
              <a:rPr lang="en-US" sz="1400" dirty="0">
                <a:solidFill>
                  <a:schemeClr val="tx1"/>
                </a:solidFill>
              </a:rPr>
              <a:t>Saved in SQLite with monitoring history</a:t>
            </a:r>
            <a:endParaRPr lang="en-US" sz="1400" dirty="0"/>
          </a:p>
        </p:txBody>
      </p:sp>
      <p:sp>
        <p:nvSpPr>
          <p:cNvPr id="8" name="Alerting"/>
          <p:cNvSpPr/>
          <p:nvPr/>
        </p:nvSpPr>
        <p:spPr>
          <a:xfrm>
            <a:off x="4297680" y="1463040"/>
            <a:ext cx="3566160" cy="2651760"/>
          </a:xfrm>
          <a:prstGeom prst="roundRect">
            <a:avLst>
              <a:gd name="adj" fmla="val 3448"/>
            </a:avLst>
          </a:prstGeom>
          <a:solidFill>
            <a:schemeClr val="bg2"/>
          </a:solidFill>
          <a:ln/>
        </p:spPr>
      </p:sp>
      <p:sp>
        <p:nvSpPr>
          <p:cNvPr id="9" name="Alerting circle"/>
          <p:cNvSpPr/>
          <p:nvPr/>
        </p:nvSpPr>
        <p:spPr>
          <a:xfrm>
            <a:off x="4572000" y="1691640"/>
            <a:ext cx="548640" cy="548640"/>
          </a:xfrm>
          <a:prstGeom prst="ellipse">
            <a:avLst/>
          </a:prstGeom>
          <a:solidFill>
            <a:schemeClr val="accent1"/>
          </a:solidFill>
          <a:ln/>
        </p:spPr>
      </p:sp>
      <p:pic>
        <p:nvPicPr>
          <p:cNvPr id="10" name="Image 1" descr="Alerting">    </p:cNvPr>
          <p:cNvPicPr>
            <a:picLocks noChangeAspect="1"/>
          </p:cNvPicPr>
          <p:nvPr/>
        </p:nvPicPr>
        <p:blipFill>
          <a:blip r:embed="rId2"/>
          <a:stretch>
            <a:fillRect/>
          </a:stretch>
        </p:blipFill>
        <p:spPr>
          <a:xfrm>
            <a:off x="4725619" y="1845259"/>
            <a:ext cx="241402" cy="241402"/>
          </a:xfrm>
          <a:prstGeom prst="rect">
            <a:avLst/>
          </a:prstGeom>
        </p:spPr>
      </p:pic>
      <p:sp>
        <p:nvSpPr>
          <p:cNvPr id="11" name="Text 7"/>
          <p:cNvSpPr txBox="1"/>
          <p:nvPr/>
        </p:nvSpPr>
        <p:spPr>
          <a:xfrm>
            <a:off x="5303520" y="1691640"/>
            <a:ext cx="2377440" cy="548640"/>
          </a:xfrm>
          <a:prstGeom prst="rect">
            <a:avLst/>
          </a:prstGeom>
          <a:noFill/>
          <a:ln/>
        </p:spPr>
        <p:txBody>
          <a:bodyPr wrap="square" lIns="0" tIns="0" rIns="0" bIns="0" rtlCol="0" anchor="ctr"/>
          <a:lstStyle/>
          <a:p>
            <a:pPr indent="0" marL="0">
              <a:buNone/>
            </a:pPr>
            <a:r>
              <a:rPr lang="en-US" sz="2000" b="1" dirty="0">
                <a:solidFill>
                  <a:schemeClr val="tx1"/>
                </a:solidFill>
              </a:rPr>
              <a:t>Alerting</a:t>
            </a:r>
            <a:endParaRPr lang="en-US" sz="2000" dirty="0"/>
          </a:p>
        </p:txBody>
      </p:sp>
      <p:sp>
        <p:nvSpPr>
          <p:cNvPr id="12" name="Text 8"/>
          <p:cNvSpPr txBox="1"/>
          <p:nvPr/>
        </p:nvSpPr>
        <p:spPr>
          <a:xfrm>
            <a:off x="4572000" y="246888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Alert for each recovery outcome</a:t>
            </a:r>
            <a:endParaRPr lang="en-US" sz="1400" dirty="0"/>
          </a:p>
          <a:p>
            <a:pPr marL="342900" indent="-342900">
              <a:spcAft>
                <a:spcPts val="600"/>
              </a:spcAft>
              <a:buSzPct val="100000"/>
              <a:buChar char="•"/>
            </a:pPr>
            <a:r>
              <a:rPr lang="en-US" sz="1400" dirty="0">
                <a:solidFill>
                  <a:schemeClr val="tx1"/>
                </a:solidFill>
              </a:rPr>
              <a:t>Severity from Low to Critical</a:t>
            </a:r>
            <a:endParaRPr lang="en-US" sz="1400" dirty="0"/>
          </a:p>
          <a:p>
            <a:pPr marL="342900" indent="-342900">
              <a:spcAft>
                <a:spcPts val="600"/>
              </a:spcAft>
              <a:buSzPct val="100000"/>
              <a:buChar char="•"/>
            </a:pPr>
            <a:r>
              <a:rPr lang="en-US" sz="1400" dirty="0">
                <a:solidFill>
                  <a:schemeClr val="tx1"/>
                </a:solidFill>
              </a:rPr>
              <a:t>Viewed and acknowledged in the dashboard</a:t>
            </a:r>
            <a:endParaRPr lang="en-US" sz="1400" dirty="0"/>
          </a:p>
        </p:txBody>
      </p:sp>
      <p:sp>
        <p:nvSpPr>
          <p:cNvPr id="13" name="Self-protection"/>
          <p:cNvSpPr/>
          <p:nvPr/>
        </p:nvSpPr>
        <p:spPr>
          <a:xfrm>
            <a:off x="8046720" y="1463040"/>
            <a:ext cx="3566160" cy="2651760"/>
          </a:xfrm>
          <a:prstGeom prst="roundRect">
            <a:avLst>
              <a:gd name="adj" fmla="val 3448"/>
            </a:avLst>
          </a:prstGeom>
          <a:solidFill>
            <a:schemeClr val="bg2"/>
          </a:solidFill>
          <a:ln/>
        </p:spPr>
      </p:sp>
      <p:sp>
        <p:nvSpPr>
          <p:cNvPr id="14" name="Self-protection circle"/>
          <p:cNvSpPr/>
          <p:nvPr/>
        </p:nvSpPr>
        <p:spPr>
          <a:xfrm>
            <a:off x="8321040" y="1691640"/>
            <a:ext cx="548640" cy="548640"/>
          </a:xfrm>
          <a:prstGeom prst="ellipse">
            <a:avLst/>
          </a:prstGeom>
          <a:solidFill>
            <a:schemeClr val="accent1"/>
          </a:solidFill>
          <a:ln/>
        </p:spPr>
      </p:sp>
      <p:pic>
        <p:nvPicPr>
          <p:cNvPr id="15" name="Image 2" descr="Self-protection">    </p:cNvPr>
          <p:cNvPicPr>
            <a:picLocks noChangeAspect="1"/>
          </p:cNvPicPr>
          <p:nvPr/>
        </p:nvPicPr>
        <p:blipFill>
          <a:blip r:embed="rId3"/>
          <a:stretch>
            <a:fillRect/>
          </a:stretch>
        </p:blipFill>
        <p:spPr>
          <a:xfrm>
            <a:off x="8474659" y="1845259"/>
            <a:ext cx="241402" cy="241402"/>
          </a:xfrm>
          <a:prstGeom prst="rect">
            <a:avLst/>
          </a:prstGeom>
        </p:spPr>
      </p:pic>
      <p:sp>
        <p:nvSpPr>
          <p:cNvPr id="16" name="Text 11"/>
          <p:cNvSpPr txBox="1"/>
          <p:nvPr/>
        </p:nvSpPr>
        <p:spPr>
          <a:xfrm>
            <a:off x="9052560" y="1691640"/>
            <a:ext cx="2377440" cy="548640"/>
          </a:xfrm>
          <a:prstGeom prst="rect">
            <a:avLst/>
          </a:prstGeom>
          <a:noFill/>
          <a:ln/>
        </p:spPr>
        <p:txBody>
          <a:bodyPr wrap="square" lIns="0" tIns="0" rIns="0" bIns="0" rtlCol="0" anchor="ctr"/>
          <a:lstStyle/>
          <a:p>
            <a:pPr indent="0" marL="0">
              <a:buNone/>
            </a:pPr>
            <a:r>
              <a:rPr lang="en-US" sz="2000" b="1" dirty="0">
                <a:solidFill>
                  <a:schemeClr val="tx1"/>
                </a:solidFill>
              </a:rPr>
              <a:t>Self-protection</a:t>
            </a:r>
            <a:endParaRPr lang="en-US" sz="2000" dirty="0"/>
          </a:p>
        </p:txBody>
      </p:sp>
      <p:sp>
        <p:nvSpPr>
          <p:cNvPr id="17" name="Text 12"/>
          <p:cNvSpPr txBox="1"/>
          <p:nvPr/>
        </p:nvSpPr>
        <p:spPr>
          <a:xfrm>
            <a:off x="8321040" y="246888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Only test_process.py can run</a:t>
            </a:r>
            <a:endParaRPr lang="en-US" sz="1400" dirty="0"/>
          </a:p>
          <a:p>
            <a:pPr marL="342900" indent="-342900">
              <a:spcAft>
                <a:spcPts val="600"/>
              </a:spcAft>
              <a:buSzPct val="100000"/>
              <a:buChar char="•"/>
            </a:pPr>
            <a:r>
              <a:rPr lang="en-US" sz="1400" dirty="0">
                <a:solidFill>
                  <a:schemeClr val="tx1"/>
                </a:solidFill>
              </a:rPr>
              <a:t>No shell commands from the frontend</a:t>
            </a:r>
            <a:endParaRPr lang="en-US" sz="1400" dirty="0"/>
          </a:p>
          <a:p>
            <a:pPr marL="342900" indent="-342900">
              <a:spcAft>
                <a:spcPts val="600"/>
              </a:spcAft>
              <a:buSzPct val="100000"/>
              <a:buChar char="•"/>
            </a:pPr>
            <a:r>
              <a:rPr lang="en-US" sz="1400" dirty="0">
                <a:solidFill>
                  <a:schemeClr val="tx1"/>
                </a:solidFill>
              </a:rPr>
              <a:t>PID, start time, cmdline must match</a:t>
            </a:r>
            <a:endParaRPr lang="en-US" sz="1400" dirty="0"/>
          </a:p>
        </p:txBody>
      </p:sp>
      <p:sp>
        <p:nvSpPr>
          <p:cNvPr id="18" name="Log panel"/>
          <p:cNvSpPr/>
          <p:nvPr/>
        </p:nvSpPr>
        <p:spPr>
          <a:xfrm>
            <a:off x="548640" y="4343400"/>
            <a:ext cx="11064240" cy="1783080"/>
          </a:xfrm>
          <a:prstGeom prst="roundRect">
            <a:avLst>
              <a:gd name="adj" fmla="val 5128"/>
            </a:avLst>
          </a:prstGeom>
          <a:solidFill>
            <a:schemeClr val="tx1"/>
          </a:solidFill>
          <a:ln/>
        </p:spPr>
      </p:sp>
      <p:sp>
        <p:nvSpPr>
          <p:cNvPr id="19" name="Text 14"/>
          <p:cNvSpPr txBox="1"/>
          <p:nvPr/>
        </p:nvSpPr>
        <p:spPr>
          <a:xfrm>
            <a:off x="822960" y="4480560"/>
            <a:ext cx="4572000" cy="228600"/>
          </a:xfrm>
          <a:prstGeom prst="rect">
            <a:avLst/>
          </a:prstGeom>
          <a:noFill/>
          <a:ln/>
        </p:spPr>
        <p:txBody>
          <a:bodyPr wrap="square" lIns="0" tIns="0" rIns="0" bIns="0" rtlCol="0" anchor="t"/>
          <a:lstStyle/>
          <a:p>
            <a:pPr indent="0" marL="0">
              <a:buNone/>
            </a:pPr>
            <a:r>
              <a:rPr lang="en-US" sz="1200" b="1" spc="200" kern="0" dirty="0">
                <a:solidFill>
                  <a:schemeClr val="accent6"/>
                </a:solidFill>
              </a:rPr>
              <a:t>SAMPLE INCIDENT TIMELINE (RE-TEST, UTC)</a:t>
            </a:r>
            <a:endParaRPr lang="en-US" sz="1200" dirty="0"/>
          </a:p>
        </p:txBody>
      </p:sp>
      <p:sp>
        <p:nvSpPr>
          <p:cNvPr id="20" name="Text 15"/>
          <p:cNvSpPr txBox="1"/>
          <p:nvPr/>
        </p:nvSpPr>
        <p:spPr>
          <a:xfrm>
            <a:off x="822960" y="4800600"/>
            <a:ext cx="10515600" cy="1234440"/>
          </a:xfrm>
          <a:prstGeom prst="rect">
            <a:avLst/>
          </a:prstGeom>
          <a:noFill/>
          <a:ln/>
        </p:spPr>
        <p:txBody>
          <a:bodyPr wrap="square" lIns="0" tIns="0" rIns="0" bIns="0" rtlCol="0" anchor="t"/>
          <a:lstStyle/>
          <a:p>
            <a:pPr indent="0" marL="0">
              <a:spcAft>
                <a:spcPts val="300"/>
              </a:spcAft>
              <a:buNone/>
            </a:pPr>
            <a:r>
              <a:rPr lang="en-US" sz="1300" dirty="0">
                <a:solidFill>
                  <a:schemeClr val="accent2"/>
                </a:solidFill>
                <a:latin typeface="Courier New" pitchFamily="34" charset="0"/>
                <a:ea typeface="Courier New" pitchFamily="34" charset="-122"/>
                <a:cs typeface="Courier New" pitchFamily="34" charset="-120"/>
              </a:rPr>
              <a:t>10-16 18:21:42 WARN  Failure detected: process has stopped</a:t>
            </a:r>
            <a:endParaRPr lang="en-US" sz="1300" dirty="0"/>
          </a:p>
          <a:p>
            <a:pPr indent="0" marL="0">
              <a:spcAft>
                <a:spcPts val="300"/>
              </a:spcAft>
              <a:buNone/>
            </a:pPr>
            <a:r>
              <a:rPr lang="en-US" sz="1300" dirty="0">
                <a:solidFill>
                  <a:schemeClr val="bg2"/>
                </a:solidFill>
                <a:latin typeface="Courier New" pitchFamily="34" charset="0"/>
                <a:ea typeface="Courier New" pitchFamily="34" charset="-122"/>
                <a:cs typeface="Courier New" pitchFamily="34" charset="-120"/>
              </a:rPr>
              <a:t>10-16 18:21:42 INFO  Restart attempt initiated: 1 of 3</a:t>
            </a:r>
            <a:endParaRPr lang="en-US" sz="1300" dirty="0"/>
          </a:p>
          <a:p>
            <a:pPr indent="0" marL="0">
              <a:spcAft>
                <a:spcPts val="300"/>
              </a:spcAft>
              <a:buNone/>
            </a:pPr>
            <a:r>
              <a:rPr lang="en-US" sz="1300" dirty="0">
                <a:solidFill>
                  <a:schemeClr val="accent6"/>
                </a:solidFill>
                <a:latin typeface="Courier New" pitchFamily="34" charset="0"/>
                <a:ea typeface="Courier New" pitchFamily="34" charset="-122"/>
                <a:cs typeface="Courier New" pitchFamily="34" charset="-120"/>
              </a:rPr>
              <a:t>10-16 18:21:42 OK    Recovery verified, health check passed</a:t>
            </a:r>
            <a:endParaRPr lang="en-US" sz="1300" dirty="0"/>
          </a:p>
          <a:p>
            <a:pPr indent="0" marL="0">
              <a:spcAft>
                <a:spcPts val="300"/>
              </a:spcAft>
              <a:buNone/>
            </a:pPr>
            <a:r>
              <a:rPr lang="en-US" sz="1300" b="1" dirty="0">
                <a:solidFill>
                  <a:schemeClr val="bg1"/>
                </a:solidFill>
                <a:latin typeface="Courier New" pitchFamily="34" charset="0"/>
                <a:ea typeface="Courier New" pitchFamily="34" charset="-122"/>
                <a:cs typeface="Courier New" pitchFamily="34" charset="-120"/>
              </a:rPr>
              <a:t>10-16 18:21:42 ALERT Recovery succeeded (Low), after attempt 1</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Technology Stack</a:t>
            </a:r>
            <a:endParaRPr lang="en-US" sz="3600" dirty="0"/>
          </a:p>
        </p:txBody>
      </p:sp>
      <p:sp>
        <p:nvSpPr>
          <p:cNvPr id="3" name="Linux (Ubuntu / Debian)"/>
          <p:cNvSpPr/>
          <p:nvPr/>
        </p:nvSpPr>
        <p:spPr>
          <a:xfrm>
            <a:off x="548640" y="1554480"/>
            <a:ext cx="3566160" cy="2148840"/>
          </a:xfrm>
          <a:prstGeom prst="roundRect">
            <a:avLst>
              <a:gd name="adj" fmla="val 4255"/>
            </a:avLst>
          </a:prstGeom>
          <a:solidFill>
            <a:schemeClr val="tx1"/>
          </a:solidFill>
          <a:ln/>
        </p:spPr>
      </p:sp>
      <p:sp>
        <p:nvSpPr>
          <p:cNvPr id="4" name="Linux (Ubuntu / Debian) circle"/>
          <p:cNvSpPr/>
          <p:nvPr/>
        </p:nvSpPr>
        <p:spPr>
          <a:xfrm>
            <a:off x="822960" y="1828800"/>
            <a:ext cx="640080" cy="640080"/>
          </a:xfrm>
          <a:prstGeom prst="ellipse">
            <a:avLst/>
          </a:prstGeom>
          <a:solidFill>
            <a:schemeClr val="accent1"/>
          </a:solidFill>
          <a:ln/>
        </p:spPr>
      </p:sp>
      <p:pic>
        <p:nvPicPr>
          <p:cNvPr id="5" name="Image 0" descr="Linux (Ubuntu / Debian)">    </p:cNvPr>
          <p:cNvPicPr>
            <a:picLocks noChangeAspect="1"/>
          </p:cNvPicPr>
          <p:nvPr/>
        </p:nvPicPr>
        <p:blipFill>
          <a:blip r:embed="rId1"/>
          <a:stretch>
            <a:fillRect/>
          </a:stretch>
        </p:blipFill>
        <p:spPr>
          <a:xfrm>
            <a:off x="1002182" y="2008022"/>
            <a:ext cx="281635" cy="281635"/>
          </a:xfrm>
          <a:prstGeom prst="rect">
            <a:avLst/>
          </a:prstGeom>
        </p:spPr>
      </p:pic>
      <p:sp>
        <p:nvSpPr>
          <p:cNvPr id="6" name="Text 3"/>
          <p:cNvSpPr txBox="1"/>
          <p:nvPr/>
        </p:nvSpPr>
        <p:spPr>
          <a:xfrm>
            <a:off x="822960" y="2651760"/>
            <a:ext cx="3063240" cy="914400"/>
          </a:xfrm>
          <a:prstGeom prst="rect">
            <a:avLst/>
          </a:prstGeom>
          <a:noFill/>
          <a:ln/>
        </p:spPr>
        <p:txBody>
          <a:bodyPr wrap="square" lIns="0" tIns="0" rIns="0" bIns="0" rtlCol="0" anchor="t"/>
          <a:lstStyle/>
          <a:p>
            <a:pPr indent="0" marL="0">
              <a:buNone/>
            </a:pPr>
            <a:r>
              <a:rPr lang="en-US" sz="1800" b="1" dirty="0">
                <a:solidFill>
                  <a:schemeClr val="bg1"/>
                </a:solidFill>
              </a:rPr>
              <a:t>Linux (Ubuntu / Debian)</a:t>
            </a:r>
            <a:endParaRPr lang="en-US" sz="1400" dirty="0"/>
          </a:p>
          <a:p>
            <a:pPr indent="0" marL="0">
              <a:buNone/>
            </a:pPr>
            <a:r>
              <a:rPr lang="en-US" sz="1400" dirty="0">
                <a:solidFill>
                  <a:schemeClr val="bg2"/>
                </a:solidFill>
              </a:rPr>
              <a:t>Target OS and kernel process model</a:t>
            </a:r>
            <a:endParaRPr lang="en-US" sz="1400" dirty="0"/>
          </a:p>
        </p:txBody>
      </p:sp>
      <p:sp>
        <p:nvSpPr>
          <p:cNvPr id="7" name="Bash scripting"/>
          <p:cNvSpPr/>
          <p:nvPr/>
        </p:nvSpPr>
        <p:spPr>
          <a:xfrm>
            <a:off x="4297680" y="1554480"/>
            <a:ext cx="3566160" cy="2148840"/>
          </a:xfrm>
          <a:prstGeom prst="roundRect">
            <a:avLst>
              <a:gd name="adj" fmla="val 4255"/>
            </a:avLst>
          </a:prstGeom>
          <a:solidFill>
            <a:schemeClr val="tx1"/>
          </a:solidFill>
          <a:ln/>
        </p:spPr>
      </p:sp>
      <p:sp>
        <p:nvSpPr>
          <p:cNvPr id="8" name="Bash scripting circle"/>
          <p:cNvSpPr/>
          <p:nvPr/>
        </p:nvSpPr>
        <p:spPr>
          <a:xfrm>
            <a:off x="4572000" y="1828800"/>
            <a:ext cx="640080" cy="640080"/>
          </a:xfrm>
          <a:prstGeom prst="ellipse">
            <a:avLst/>
          </a:prstGeom>
          <a:solidFill>
            <a:schemeClr val="accent1"/>
          </a:solidFill>
          <a:ln/>
        </p:spPr>
      </p:sp>
      <p:pic>
        <p:nvPicPr>
          <p:cNvPr id="9" name="Image 1" descr="Bash scripting">    </p:cNvPr>
          <p:cNvPicPr>
            <a:picLocks noChangeAspect="1"/>
          </p:cNvPicPr>
          <p:nvPr/>
        </p:nvPicPr>
        <p:blipFill>
          <a:blip r:embed="rId2"/>
          <a:stretch>
            <a:fillRect/>
          </a:stretch>
        </p:blipFill>
        <p:spPr>
          <a:xfrm>
            <a:off x="4751222" y="2008022"/>
            <a:ext cx="281635" cy="281635"/>
          </a:xfrm>
          <a:prstGeom prst="rect">
            <a:avLst/>
          </a:prstGeom>
        </p:spPr>
      </p:pic>
      <p:sp>
        <p:nvSpPr>
          <p:cNvPr id="10" name="Text 6"/>
          <p:cNvSpPr txBox="1"/>
          <p:nvPr/>
        </p:nvSpPr>
        <p:spPr>
          <a:xfrm>
            <a:off x="4572000" y="2651760"/>
            <a:ext cx="3063240" cy="914400"/>
          </a:xfrm>
          <a:prstGeom prst="rect">
            <a:avLst/>
          </a:prstGeom>
          <a:noFill/>
          <a:ln/>
        </p:spPr>
        <p:txBody>
          <a:bodyPr wrap="square" lIns="0" tIns="0" rIns="0" bIns="0" rtlCol="0" anchor="t"/>
          <a:lstStyle/>
          <a:p>
            <a:pPr indent="0" marL="0">
              <a:buNone/>
            </a:pPr>
            <a:r>
              <a:rPr lang="en-US" sz="1800" b="1" dirty="0">
                <a:solidFill>
                  <a:schemeClr val="bg1"/>
                </a:solidFill>
              </a:rPr>
              <a:t>Python 3 + FastAPI</a:t>
            </a:r>
            <a:endParaRPr lang="en-US" sz="1400" dirty="0"/>
          </a:p>
          <a:p>
            <a:pPr indent="0" marL="0">
              <a:buNone/>
            </a:pPr>
            <a:r>
              <a:rPr lang="en-US" sz="1400" dirty="0">
                <a:solidFill>
                  <a:schemeClr val="bg2"/>
                </a:solidFill>
              </a:rPr>
              <a:t>Backend API and monitor loop (Uvicorn)</a:t>
            </a:r>
            <a:endParaRPr lang="en-US" sz="1400" dirty="0"/>
          </a:p>
        </p:txBody>
      </p:sp>
      <p:sp>
        <p:nvSpPr>
          <p:cNvPr id="11" name="Python 3 + psutil"/>
          <p:cNvSpPr/>
          <p:nvPr/>
        </p:nvSpPr>
        <p:spPr>
          <a:xfrm>
            <a:off x="8046720" y="1554480"/>
            <a:ext cx="3566160" cy="2148840"/>
          </a:xfrm>
          <a:prstGeom prst="roundRect">
            <a:avLst>
              <a:gd name="adj" fmla="val 4255"/>
            </a:avLst>
          </a:prstGeom>
          <a:solidFill>
            <a:schemeClr val="tx1"/>
          </a:solidFill>
          <a:ln/>
        </p:spPr>
      </p:sp>
      <p:sp>
        <p:nvSpPr>
          <p:cNvPr id="12" name="Python 3 + psutil circle"/>
          <p:cNvSpPr/>
          <p:nvPr/>
        </p:nvSpPr>
        <p:spPr>
          <a:xfrm>
            <a:off x="8321040" y="1828800"/>
            <a:ext cx="640080" cy="640080"/>
          </a:xfrm>
          <a:prstGeom prst="ellipse">
            <a:avLst/>
          </a:prstGeom>
          <a:solidFill>
            <a:schemeClr val="accent1"/>
          </a:solidFill>
          <a:ln/>
        </p:spPr>
      </p:sp>
      <p:pic>
        <p:nvPicPr>
          <p:cNvPr id="13" name="Image 2" descr="Python 3 + psutil">    </p:cNvPr>
          <p:cNvPicPr>
            <a:picLocks noChangeAspect="1"/>
          </p:cNvPicPr>
          <p:nvPr/>
        </p:nvPicPr>
        <p:blipFill>
          <a:blip r:embed="rId3"/>
          <a:stretch>
            <a:fillRect/>
          </a:stretch>
        </p:blipFill>
        <p:spPr>
          <a:xfrm>
            <a:off x="8500262" y="2008022"/>
            <a:ext cx="281635" cy="281635"/>
          </a:xfrm>
          <a:prstGeom prst="rect">
            <a:avLst/>
          </a:prstGeom>
        </p:spPr>
      </p:pic>
      <p:sp>
        <p:nvSpPr>
          <p:cNvPr id="14" name="Text 9"/>
          <p:cNvSpPr txBox="1"/>
          <p:nvPr/>
        </p:nvSpPr>
        <p:spPr>
          <a:xfrm>
            <a:off x="8321040" y="2651760"/>
            <a:ext cx="3063240" cy="914400"/>
          </a:xfrm>
          <a:prstGeom prst="rect">
            <a:avLst/>
          </a:prstGeom>
          <a:noFill/>
          <a:ln/>
        </p:spPr>
        <p:txBody>
          <a:bodyPr wrap="square" lIns="0" tIns="0" rIns="0" bIns="0" rtlCol="0" anchor="t"/>
          <a:lstStyle/>
          <a:p>
            <a:pPr indent="0" marL="0">
              <a:buNone/>
            </a:pPr>
            <a:r>
              <a:rPr lang="en-US" sz="1800" b="1" dirty="0">
                <a:solidFill>
                  <a:schemeClr val="bg1"/>
                </a:solidFill>
              </a:rPr>
              <a:t>psutil</a:t>
            </a:r>
            <a:endParaRPr lang="en-US" sz="1400" dirty="0"/>
          </a:p>
          <a:p>
            <a:pPr indent="0" marL="0">
              <a:buNone/>
            </a:pPr>
            <a:r>
              <a:rPr lang="en-US" sz="1400" dirty="0">
                <a:solidFill>
                  <a:schemeClr val="bg2"/>
                </a:solidFill>
              </a:rPr>
              <a:t>Process identity, state, CPU, memory</a:t>
            </a:r>
            <a:endParaRPr lang="en-US" sz="1400" dirty="0"/>
          </a:p>
        </p:txBody>
      </p:sp>
      <p:sp>
        <p:nvSpPr>
          <p:cNvPr id="15" name="/proc filesystem"/>
          <p:cNvSpPr/>
          <p:nvPr/>
        </p:nvSpPr>
        <p:spPr>
          <a:xfrm>
            <a:off x="548640" y="3931920"/>
            <a:ext cx="3566160" cy="2148840"/>
          </a:xfrm>
          <a:prstGeom prst="roundRect">
            <a:avLst>
              <a:gd name="adj" fmla="val 4255"/>
            </a:avLst>
          </a:prstGeom>
          <a:solidFill>
            <a:schemeClr val="tx1"/>
          </a:solidFill>
          <a:ln/>
        </p:spPr>
      </p:sp>
      <p:sp>
        <p:nvSpPr>
          <p:cNvPr id="16" name="/proc filesystem circle"/>
          <p:cNvSpPr/>
          <p:nvPr/>
        </p:nvSpPr>
        <p:spPr>
          <a:xfrm>
            <a:off x="822960" y="4206240"/>
            <a:ext cx="640080" cy="640080"/>
          </a:xfrm>
          <a:prstGeom prst="ellipse">
            <a:avLst/>
          </a:prstGeom>
          <a:solidFill>
            <a:schemeClr val="accent1"/>
          </a:solidFill>
          <a:ln/>
        </p:spPr>
      </p:sp>
      <p:pic>
        <p:nvPicPr>
          <p:cNvPr id="17" name="Image 3" descr="/proc filesystem">    </p:cNvPr>
          <p:cNvPicPr>
            <a:picLocks noChangeAspect="1"/>
          </p:cNvPicPr>
          <p:nvPr/>
        </p:nvPicPr>
        <p:blipFill>
          <a:blip r:embed="rId4"/>
          <a:stretch>
            <a:fillRect/>
          </a:stretch>
        </p:blipFill>
        <p:spPr>
          <a:xfrm>
            <a:off x="1002182" y="4385462"/>
            <a:ext cx="281635" cy="281635"/>
          </a:xfrm>
          <a:prstGeom prst="rect">
            <a:avLst/>
          </a:prstGeom>
        </p:spPr>
      </p:pic>
      <p:sp>
        <p:nvSpPr>
          <p:cNvPr id="18" name="Text 12"/>
          <p:cNvSpPr txBox="1"/>
          <p:nvPr/>
        </p:nvSpPr>
        <p:spPr>
          <a:xfrm>
            <a:off x="822960" y="5029200"/>
            <a:ext cx="3063240" cy="914400"/>
          </a:xfrm>
          <a:prstGeom prst="rect">
            <a:avLst/>
          </a:prstGeom>
          <a:noFill/>
          <a:ln/>
        </p:spPr>
        <p:txBody>
          <a:bodyPr wrap="square" lIns="0" tIns="0" rIns="0" bIns="0" rtlCol="0" anchor="t"/>
          <a:lstStyle/>
          <a:p>
            <a:pPr indent="0" marL="0">
              <a:buNone/>
            </a:pPr>
            <a:r>
              <a:rPr lang="en-US" sz="1800" b="1" dirty="0">
                <a:solidFill>
                  <a:schemeClr val="bg1"/>
                </a:solidFill>
              </a:rPr>
              <a:t>SQLite + SQLAlchemy</a:t>
            </a:r>
            <a:endParaRPr lang="en-US" sz="1400" dirty="0"/>
          </a:p>
          <a:p>
            <a:pPr indent="0" marL="0">
              <a:buNone/>
            </a:pPr>
            <a:r>
              <a:rPr lang="en-US" sz="1400" dirty="0">
                <a:solidFill>
                  <a:schemeClr val="bg2"/>
                </a:solidFill>
              </a:rPr>
              <a:t>Incidents, attempts, alerts, history</a:t>
            </a:r>
            <a:endParaRPr lang="en-US" sz="1400" dirty="0"/>
          </a:p>
        </p:txBody>
      </p:sp>
      <p:sp>
        <p:nvSpPr>
          <p:cNvPr id="19" name="systemd"/>
          <p:cNvSpPr/>
          <p:nvPr/>
        </p:nvSpPr>
        <p:spPr>
          <a:xfrm>
            <a:off x="4297680" y="3931920"/>
            <a:ext cx="3566160" cy="2148840"/>
          </a:xfrm>
          <a:prstGeom prst="roundRect">
            <a:avLst>
              <a:gd name="adj" fmla="val 4255"/>
            </a:avLst>
          </a:prstGeom>
          <a:solidFill>
            <a:schemeClr val="tx1"/>
          </a:solidFill>
          <a:ln/>
        </p:spPr>
      </p:sp>
      <p:sp>
        <p:nvSpPr>
          <p:cNvPr id="20" name="systemd circle"/>
          <p:cNvSpPr/>
          <p:nvPr/>
        </p:nvSpPr>
        <p:spPr>
          <a:xfrm>
            <a:off x="4572000" y="4206240"/>
            <a:ext cx="640080" cy="640080"/>
          </a:xfrm>
          <a:prstGeom prst="ellipse">
            <a:avLst/>
          </a:prstGeom>
          <a:solidFill>
            <a:schemeClr val="accent1"/>
          </a:solidFill>
          <a:ln/>
        </p:spPr>
      </p:sp>
      <p:pic>
        <p:nvPicPr>
          <p:cNvPr id="21" name="Image 4" descr="systemd">    </p:cNvPr>
          <p:cNvPicPr>
            <a:picLocks noChangeAspect="1"/>
          </p:cNvPicPr>
          <p:nvPr/>
        </p:nvPicPr>
        <p:blipFill>
          <a:blip r:embed="rId5"/>
          <a:stretch>
            <a:fillRect/>
          </a:stretch>
        </p:blipFill>
        <p:spPr>
          <a:xfrm>
            <a:off x="4751222" y="4385462"/>
            <a:ext cx="281635" cy="281635"/>
          </a:xfrm>
          <a:prstGeom prst="rect">
            <a:avLst/>
          </a:prstGeom>
        </p:spPr>
      </p:pic>
      <p:sp>
        <p:nvSpPr>
          <p:cNvPr id="22" name="Text 15"/>
          <p:cNvSpPr txBox="1"/>
          <p:nvPr/>
        </p:nvSpPr>
        <p:spPr>
          <a:xfrm>
            <a:off x="4572000" y="5029200"/>
            <a:ext cx="3063240" cy="914400"/>
          </a:xfrm>
          <a:prstGeom prst="rect">
            <a:avLst/>
          </a:prstGeom>
          <a:noFill/>
          <a:ln/>
        </p:spPr>
        <p:txBody>
          <a:bodyPr wrap="square" lIns="0" tIns="0" rIns="0" bIns="0" rtlCol="0" anchor="t"/>
          <a:lstStyle/>
          <a:p>
            <a:pPr indent="0" marL="0">
              <a:buNone/>
            </a:pPr>
            <a:r>
              <a:rPr lang="en-US" sz="1800" b="1" dirty="0">
                <a:solidFill>
                  <a:schemeClr val="bg1"/>
                </a:solidFill>
              </a:rPr>
              <a:t>React + TypeScript</a:t>
            </a:r>
            <a:endParaRPr lang="en-US" sz="1400" dirty="0"/>
          </a:p>
          <a:p>
            <a:pPr indent="0" marL="0">
              <a:buNone/>
            </a:pPr>
            <a:r>
              <a:rPr lang="en-US" sz="1400" dirty="0">
                <a:solidFill>
                  <a:schemeClr val="bg2"/>
                </a:solidFill>
              </a:rPr>
              <a:t>Vite dashboard over REST /api</a:t>
            </a:r>
            <a:endParaRPr lang="en-US" sz="1400" dirty="0"/>
          </a:p>
        </p:txBody>
      </p:sp>
      <p:sp>
        <p:nvSpPr>
          <p:cNvPr id="23" name="logrotate / cron"/>
          <p:cNvSpPr/>
          <p:nvPr/>
        </p:nvSpPr>
        <p:spPr>
          <a:xfrm>
            <a:off x="8046720" y="3931920"/>
            <a:ext cx="3566160" cy="2148840"/>
          </a:xfrm>
          <a:prstGeom prst="roundRect">
            <a:avLst>
              <a:gd name="adj" fmla="val 4255"/>
            </a:avLst>
          </a:prstGeom>
          <a:solidFill>
            <a:schemeClr val="tx1"/>
          </a:solidFill>
          <a:ln/>
        </p:spPr>
      </p:sp>
      <p:sp>
        <p:nvSpPr>
          <p:cNvPr id="24" name="logrotate / cron circle"/>
          <p:cNvSpPr/>
          <p:nvPr/>
        </p:nvSpPr>
        <p:spPr>
          <a:xfrm>
            <a:off x="8321040" y="4206240"/>
            <a:ext cx="640080" cy="640080"/>
          </a:xfrm>
          <a:prstGeom prst="ellipse">
            <a:avLst/>
          </a:prstGeom>
          <a:solidFill>
            <a:schemeClr val="accent1"/>
          </a:solidFill>
          <a:ln/>
        </p:spPr>
      </p:sp>
      <p:pic>
        <p:nvPicPr>
          <p:cNvPr id="25" name="Image 5" descr="logrotate / cron">    </p:cNvPr>
          <p:cNvPicPr>
            <a:picLocks noChangeAspect="1"/>
          </p:cNvPicPr>
          <p:nvPr/>
        </p:nvPicPr>
        <p:blipFill>
          <a:blip r:embed="rId6"/>
          <a:stretch>
            <a:fillRect/>
          </a:stretch>
        </p:blipFill>
        <p:spPr>
          <a:xfrm>
            <a:off x="8500262" y="4385462"/>
            <a:ext cx="281635" cy="281635"/>
          </a:xfrm>
          <a:prstGeom prst="rect">
            <a:avLst/>
          </a:prstGeom>
        </p:spPr>
      </p:pic>
      <p:sp>
        <p:nvSpPr>
          <p:cNvPr id="26" name="Text 18"/>
          <p:cNvSpPr txBox="1"/>
          <p:nvPr/>
        </p:nvSpPr>
        <p:spPr>
          <a:xfrm>
            <a:off x="8321040" y="5029200"/>
            <a:ext cx="3063240" cy="914400"/>
          </a:xfrm>
          <a:prstGeom prst="rect">
            <a:avLst/>
          </a:prstGeom>
          <a:noFill/>
          <a:ln/>
        </p:spPr>
        <p:txBody>
          <a:bodyPr wrap="square" lIns="0" tIns="0" rIns="0" bIns="0" rtlCol="0" anchor="t"/>
          <a:lstStyle/>
          <a:p>
            <a:pPr indent="0" marL="0">
              <a:buNone/>
            </a:pPr>
            <a:r>
              <a:rPr lang="en-US" sz="1800" b="1" dirty="0">
                <a:solidFill>
                  <a:schemeClr val="bg1"/>
                </a:solidFill>
              </a:rPr>
              <a:t>pytest</a:t>
            </a:r>
            <a:endParaRPr lang="en-US" sz="1400" dirty="0"/>
          </a:p>
          <a:p>
            <a:pPr indent="0" marL="0">
              <a:buNone/>
            </a:pPr>
            <a:r>
              <a:rPr lang="en-US" sz="1400" dirty="0">
                <a:solidFill>
                  <a:schemeClr val="bg2"/>
                </a:solidFill>
              </a:rPr>
              <a:t>Backend tests (3 of 3 passing)</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Test Scenarios and Observed Behavior</a:t>
            </a:r>
            <a:endParaRPr lang="en-US" sz="3600" dirty="0"/>
          </a:p>
        </p:txBody>
      </p:sp>
      <p:graphicFrame>
        <p:nvGraphicFramePr>
          <p:cNvPr id="15" name="Test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560320"/>
                <a:gridCol w="3566160"/>
                <a:gridCol w="4937760"/>
              </a:tblGrid>
              <a:tr h="457200">
                <a:tc>
                  <a:txBody>
                    <a:bodyPr/>
                    <a:lstStyle/>
                    <a:p>
                      <a:pPr indent="0" marL="0">
                        <a:buNone/>
                      </a:pPr>
                      <a:r>
                        <a:rPr lang="en-US" sz="1400" b="1" dirty="0">
                          <a:solidFill>
                            <a:srgbClr val="FFFFFF"/>
                          </a:solidFill>
                        </a:rPr>
                        <a:t>Scenario</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D1117"/>
                    </a:solidFill>
                  </a:tcPr>
                </a:tc>
                <a:tc>
                  <a:txBody>
                    <a:bodyPr/>
                    <a:lstStyle/>
                    <a:p>
                      <a:pPr indent="0" marL="0">
                        <a:buNone/>
                      </a:pPr>
                      <a:r>
                        <a:rPr lang="en-US" sz="1400" b="1" dirty="0">
                          <a:solidFill>
                            <a:srgbClr val="FFFFFF"/>
                          </a:solidFill>
                        </a:rPr>
                        <a:t>How we trigger it</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D1117"/>
                    </a:solidFill>
                  </a:tcPr>
                </a:tc>
                <a:tc>
                  <a:txBody>
                    <a:bodyPr/>
                    <a:lstStyle/>
                    <a:p>
                      <a:pPr indent="0" marL="0">
                        <a:buNone/>
                      </a:pPr>
                      <a:r>
                        <a:rPr lang="en-US" sz="1400" b="1" dirty="0">
                          <a:solidFill>
                            <a:srgbClr val="FFFFFF"/>
                          </a:solidFill>
                        </a:rPr>
                        <a:t>Observed behavior</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D1117"/>
                    </a:solidFill>
                  </a:tcPr>
                </a:tc>
              </a:tr>
              <a:tr h="594360">
                <a:tc>
                  <a:txBody>
                    <a:bodyPr/>
                    <a:lstStyle/>
                    <a:p>
                      <a:pPr indent="0" marL="0">
                        <a:buNone/>
                      </a:pPr>
                      <a:r>
                        <a:rPr lang="en-US" sz="1400" b="1" dirty="0">
                          <a:solidFill>
                            <a:srgbClr val="1A7F37"/>
                          </a:solidFill>
                        </a:rPr>
                        <a:t>Abrupt kill</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latin typeface="Courier New" pitchFamily="34" charset="0"/>
                          <a:ea typeface="Courier New" pitchFamily="34" charset="-122"/>
                          <a:cs typeface="Courier New" pitchFamily="34" charset="-120"/>
                        </a:rPr>
                        <a:t>POST /api/demo/live-recovery</a:t>
                      </a:r>
                      <a:endParaRPr lang="en-US" sz="1400" dirty="0">
                        <a:latin typeface="Courier New" charset="0"/>
                        <a:ea typeface="Courier New" charset="0"/>
                        <a:cs typeface="Courier New" charset="0"/>
                      </a:endParaRPr>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Detected next poll; restarted; Recovered</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94360">
                <a:tc>
                  <a:txBody>
                    <a:bodyPr/>
                    <a:lstStyle/>
                    <a:p>
                      <a:pPr indent="0" marL="0">
                        <a:buNone/>
                      </a:pPr>
                      <a:r>
                        <a:rPr lang="en-US" sz="1400" b="1" dirty="0">
                          <a:solidFill>
                            <a:srgbClr val="1A7F37"/>
                          </a:solidFill>
                        </a:rPr>
                        <a:t>Manual restart</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latin typeface="Courier New" pitchFamily="34" charset="0"/>
                          <a:ea typeface="Courier New" pitchFamily="34" charset="-122"/>
                          <a:cs typeface="Courier New" pitchFamily="34" charset="-120"/>
                        </a:rPr>
                        <a:t>POST /applications/{id}/restart</a:t>
                      </a:r>
                      <a:endParaRPr lang="en-US" sz="1400" dirty="0">
                        <a:latin typeface="Courier New" charset="0"/>
                        <a:ea typeface="Courier New" charset="0"/>
                        <a:cs typeface="Courier New" charset="0"/>
                      </a:endParaRPr>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rPr>
                        <a:t>Incident Recovered (pytest)</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r>
              <a:tr h="594360">
                <a:tc>
                  <a:txBody>
                    <a:bodyPr/>
                    <a:lstStyle/>
                    <a:p>
                      <a:pPr indent="0" marL="0">
                        <a:buNone/>
                      </a:pPr>
                      <a:r>
                        <a:rPr lang="en-US" sz="1400" b="1" dirty="0">
                          <a:solidFill>
                            <a:srgbClr val="1A7F37"/>
                          </a:solidFill>
                        </a:rPr>
                        <a:t>Failing health check</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latin typeface="Courier New" pitchFamily="34" charset="0"/>
                          <a:ea typeface="Courier New" pitchFamily="34" charset="-122"/>
                          <a:cs typeface="Courier New" pitchFamily="34" charset="-120"/>
                        </a:rPr>
                        <a:t>Unreachable health_check_url</a:t>
                      </a:r>
                      <a:endParaRPr lang="en-US" sz="1400" dirty="0">
                        <a:latin typeface="Courier New" charset="0"/>
                        <a:ea typeface="Courier New" charset="0"/>
                        <a:cs typeface="Courier New" charset="0"/>
                      </a:endParaRPr>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Attempt 1 Failed; no auto-retry yet (known gap)</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94360">
                <a:tc>
                  <a:txBody>
                    <a:bodyPr/>
                    <a:lstStyle/>
                    <a:p>
                      <a:pPr indent="0" marL="0">
                        <a:buNone/>
                      </a:pPr>
                      <a:r>
                        <a:rPr lang="en-US" sz="1400" b="1" dirty="0">
                          <a:solidFill>
                            <a:srgbClr val="1A7F37"/>
                          </a:solidFill>
                        </a:rPr>
                        <a:t>Unauthorized script</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latin typeface="Courier New" pitchFamily="34" charset="0"/>
                          <a:ea typeface="Courier New" pitchFamily="34" charset="-122"/>
                          <a:cs typeface="Courier New" pitchFamily="34" charset="-120"/>
                        </a:rPr>
                        <a:t>Register script "rm -rf /"</a:t>
                      </a:r>
                      <a:endParaRPr lang="en-US" sz="1400" dirty="0">
                        <a:latin typeface="Courier New" charset="0"/>
                        <a:ea typeface="Courier New" charset="0"/>
                        <a:cs typeface="Courier New" charset="0"/>
                      </a:endParaRPr>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rPr>
                        <a:t>Rejected with HTTP 422 (pytest)</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r>
              <a:tr h="594360">
                <a:tc>
                  <a:txBody>
                    <a:bodyPr/>
                    <a:lstStyle/>
                    <a:p>
                      <a:pPr indent="0" marL="0">
                        <a:buNone/>
                      </a:pPr>
                      <a:r>
                        <a:rPr lang="en-US" sz="1400" b="1" dirty="0">
                          <a:solidFill>
                            <a:srgbClr val="1A7F37"/>
                          </a:solidFill>
                        </a:rPr>
                        <a:t>Planned stop</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latin typeface="Courier New" pitchFamily="34" charset="0"/>
                          <a:ea typeface="Courier New" pitchFamily="34" charset="-122"/>
                          <a:cs typeface="Courier New" pitchFamily="34" charset="-120"/>
                        </a:rPr>
                        <a:t>expected_running = false</a:t>
                      </a:r>
                      <a:endParaRPr lang="en-US" sz="1400" dirty="0">
                        <a:latin typeface="Courier New" charset="0"/>
                        <a:ea typeface="Courier New" charset="0"/>
                        <a:cs typeface="Courier New" charset="0"/>
                      </a:endParaRPr>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0D1117"/>
                          </a:solidFill>
                        </a:rPr>
                        <a:t>Per code: no incident (not tested)</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94360">
                <a:tc>
                  <a:txBody>
                    <a:bodyPr/>
                    <a:lstStyle/>
                    <a:p>
                      <a:pPr indent="0" marL="0">
                        <a:buNone/>
                      </a:pPr>
                      <a:r>
                        <a:rPr lang="en-US" sz="1400" b="1" dirty="0">
                          <a:solidFill>
                            <a:srgbClr val="1A7F37"/>
                          </a:solidFill>
                        </a:rPr>
                        <a:t>Backend health</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latin typeface="Courier New" pitchFamily="34" charset="0"/>
                          <a:ea typeface="Courier New" pitchFamily="34" charset="-122"/>
                          <a:cs typeface="Courier New" pitchFamily="34" charset="-120"/>
                        </a:rPr>
                        <a:t>GET /api/health</a:t>
                      </a:r>
                      <a:endParaRPr lang="en-US" sz="1400" dirty="0">
                        <a:latin typeface="Courier New" charset="0"/>
                        <a:ea typeface="Courier New" charset="0"/>
                        <a:cs typeface="Courier New" charset="0"/>
                      </a:endParaRPr>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c>
                  <a:txBody>
                    <a:bodyPr/>
                    <a:lstStyle/>
                    <a:p>
                      <a:pPr indent="0" marL="0">
                        <a:buNone/>
                      </a:pPr>
                      <a:r>
                        <a:rPr lang="en-US" sz="1400" dirty="0">
                          <a:solidFill>
                            <a:srgbClr val="0D1117"/>
                          </a:solidFill>
                        </a:rPr>
                        <a:t>status ok, agent running (pytest)</a:t>
                      </a:r>
                      <a:endParaRPr lang="en-US" sz="1400" dirty="0"/>
                    </a:p>
                  </a:txBody>
                  <a:tcPr marL="109728" marR="109728" marT="0" marB="0"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EEF3EF"/>
                    </a:solidFill>
                  </a:tcPr>
                </a:tc>
              </a:tr>
            </a:tbl>
          </a:graphicData>
        </a:graphic>
      </p:graphicFrame>
      <p:sp>
        <p:nvSpPr>
          <p:cNvPr id="4" name="Text 1"/>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400" dirty="0">
                <a:solidFill>
                  <a:schemeClr val="accent5"/>
                </a:solidFill>
              </a:rPr>
              <a:t>Tools: pytest (3 of 3 passed), curl on a live server. Not yet tested: crash loops, simultaneous failures.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Challenges and Solutions</a:t>
            </a:r>
            <a:endParaRPr lang="en-US" sz="3600" dirty="0"/>
          </a:p>
        </p:txBody>
      </p:sp>
      <p:sp>
        <p:nvSpPr>
          <p:cNvPr id="3" name="PID reuse"/>
          <p:cNvSpPr/>
          <p:nvPr/>
        </p:nvSpPr>
        <p:spPr>
          <a:xfrm>
            <a:off x="548640" y="1463040"/>
            <a:ext cx="5440680" cy="1417320"/>
          </a:xfrm>
          <a:prstGeom prst="roundRect">
            <a:avLst>
              <a:gd name="adj" fmla="val 6452"/>
            </a:avLst>
          </a:prstGeom>
          <a:solidFill>
            <a:schemeClr val="bg2"/>
          </a:solidFill>
          <a:ln/>
        </p:spPr>
      </p:sp>
      <p:sp>
        <p:nvSpPr>
          <p:cNvPr id="4" name="PID reuse circle"/>
          <p:cNvSpPr/>
          <p:nvPr/>
        </p:nvSpPr>
        <p:spPr>
          <a:xfrm>
            <a:off x="822960" y="1874520"/>
            <a:ext cx="594360" cy="594360"/>
          </a:xfrm>
          <a:prstGeom prst="ellipse">
            <a:avLst/>
          </a:prstGeom>
          <a:solidFill>
            <a:schemeClr val="accent1"/>
          </a:solidFill>
          <a:ln/>
        </p:spPr>
      </p:sp>
      <p:pic>
        <p:nvPicPr>
          <p:cNvPr id="5" name="Image 0" descr="PID reuse">    </p:cNvPr>
          <p:cNvPicPr>
            <a:picLocks noChangeAspect="1"/>
          </p:cNvPicPr>
          <p:nvPr/>
        </p:nvPicPr>
        <p:blipFill>
          <a:blip r:embed="rId1"/>
          <a:stretch>
            <a:fillRect/>
          </a:stretch>
        </p:blipFill>
        <p:spPr>
          <a:xfrm>
            <a:off x="989381" y="2040941"/>
            <a:ext cx="261518" cy="261518"/>
          </a:xfrm>
          <a:prstGeom prst="rect">
            <a:avLst/>
          </a:prstGeom>
        </p:spPr>
      </p:pic>
      <p:sp>
        <p:nvSpPr>
          <p:cNvPr id="6" name="Text 3"/>
          <p:cNvSpPr txBox="1"/>
          <p:nvPr/>
        </p:nvSpPr>
        <p:spPr>
          <a:xfrm>
            <a:off x="1645920" y="1463040"/>
            <a:ext cx="4114800" cy="1417320"/>
          </a:xfrm>
          <a:prstGeom prst="rect">
            <a:avLst/>
          </a:prstGeom>
          <a:noFill/>
          <a:ln/>
        </p:spPr>
        <p:txBody>
          <a:bodyPr wrap="square" lIns="0" tIns="0" rIns="0" bIns="0" rtlCol="0" anchor="ctr"/>
          <a:lstStyle/>
          <a:p>
            <a:pPr indent="0" marL="0">
              <a:buNone/>
            </a:pPr>
            <a:r>
              <a:rPr lang="en-US" sz="1800" b="1" dirty="0">
                <a:solidFill>
                  <a:schemeClr val="tx1"/>
                </a:solidFill>
              </a:rPr>
              <a:t>PID reuse</a:t>
            </a:r>
            <a:endParaRPr lang="en-US" sz="1400" dirty="0"/>
          </a:p>
          <a:p>
            <a:pPr indent="0" marL="0">
              <a:buNone/>
            </a:pPr>
            <a:r>
              <a:rPr lang="en-US" sz="1400" dirty="0">
                <a:solidFill>
                  <a:schemeClr val="accent5"/>
                </a:solidFill>
              </a:rPr>
              <a:t>Match PID, start time and command line</a:t>
            </a:r>
            <a:endParaRPr lang="en-US" sz="1400" dirty="0"/>
          </a:p>
        </p:txBody>
      </p:sp>
      <p:sp>
        <p:nvSpPr>
          <p:cNvPr id="7" name="Zombie processes"/>
          <p:cNvSpPr/>
          <p:nvPr/>
        </p:nvSpPr>
        <p:spPr>
          <a:xfrm>
            <a:off x="6172200" y="1463040"/>
            <a:ext cx="5440680" cy="1417320"/>
          </a:xfrm>
          <a:prstGeom prst="roundRect">
            <a:avLst>
              <a:gd name="adj" fmla="val 6452"/>
            </a:avLst>
          </a:prstGeom>
          <a:solidFill>
            <a:schemeClr val="bg2"/>
          </a:solidFill>
          <a:ln/>
        </p:spPr>
      </p:sp>
      <p:sp>
        <p:nvSpPr>
          <p:cNvPr id="8" name="Zombie processes circle"/>
          <p:cNvSpPr/>
          <p:nvPr/>
        </p:nvSpPr>
        <p:spPr>
          <a:xfrm>
            <a:off x="6446520" y="1874520"/>
            <a:ext cx="594360" cy="594360"/>
          </a:xfrm>
          <a:prstGeom prst="ellipse">
            <a:avLst/>
          </a:prstGeom>
          <a:solidFill>
            <a:schemeClr val="accent1"/>
          </a:solidFill>
          <a:ln/>
        </p:spPr>
      </p:sp>
      <p:pic>
        <p:nvPicPr>
          <p:cNvPr id="9" name="Image 1" descr="Zombie processes">    </p:cNvPr>
          <p:cNvPicPr>
            <a:picLocks noChangeAspect="1"/>
          </p:cNvPicPr>
          <p:nvPr/>
        </p:nvPicPr>
        <p:blipFill>
          <a:blip r:embed="rId2"/>
          <a:stretch>
            <a:fillRect/>
          </a:stretch>
        </p:blipFill>
        <p:spPr>
          <a:xfrm>
            <a:off x="6612941" y="2040941"/>
            <a:ext cx="261518" cy="261518"/>
          </a:xfrm>
          <a:prstGeom prst="rect">
            <a:avLst/>
          </a:prstGeom>
        </p:spPr>
      </p:pic>
      <p:sp>
        <p:nvSpPr>
          <p:cNvPr id="10" name="Text 6"/>
          <p:cNvSpPr txBox="1"/>
          <p:nvPr/>
        </p:nvSpPr>
        <p:spPr>
          <a:xfrm>
            <a:off x="7269480" y="1463040"/>
            <a:ext cx="4114800" cy="1417320"/>
          </a:xfrm>
          <a:prstGeom prst="rect">
            <a:avLst/>
          </a:prstGeom>
          <a:noFill/>
          <a:ln/>
        </p:spPr>
        <p:txBody>
          <a:bodyPr wrap="square" lIns="0" tIns="0" rIns="0" bIns="0" rtlCol="0" anchor="ctr"/>
          <a:lstStyle/>
          <a:p>
            <a:pPr indent="0" marL="0">
              <a:buNone/>
            </a:pPr>
            <a:r>
              <a:rPr lang="en-US" sz="1800" b="1" dirty="0">
                <a:solidFill>
                  <a:schemeClr val="tx1"/>
                </a:solidFill>
              </a:rPr>
              <a:t>Zombie processes</a:t>
            </a:r>
            <a:endParaRPr lang="en-US" sz="1400" dirty="0"/>
          </a:p>
          <a:p>
            <a:pPr indent="0" marL="0">
              <a:buNone/>
            </a:pPr>
            <a:r>
              <a:rPr lang="en-US" sz="1400" dirty="0">
                <a:solidFill>
                  <a:schemeClr val="accent5"/>
                </a:solidFill>
              </a:rPr>
              <a:t>Zombie state counts as not alive</a:t>
            </a:r>
            <a:endParaRPr lang="en-US" sz="1400" dirty="0"/>
          </a:p>
        </p:txBody>
      </p:sp>
      <p:sp>
        <p:nvSpPr>
          <p:cNvPr id="11" name="Restart loops"/>
          <p:cNvSpPr/>
          <p:nvPr/>
        </p:nvSpPr>
        <p:spPr>
          <a:xfrm>
            <a:off x="548640" y="3063240"/>
            <a:ext cx="5440680" cy="1417320"/>
          </a:xfrm>
          <a:prstGeom prst="roundRect">
            <a:avLst>
              <a:gd name="adj" fmla="val 6452"/>
            </a:avLst>
          </a:prstGeom>
          <a:solidFill>
            <a:schemeClr val="bg2"/>
          </a:solidFill>
          <a:ln/>
        </p:spPr>
      </p:sp>
      <p:sp>
        <p:nvSpPr>
          <p:cNvPr id="12" name="Restart loops circle"/>
          <p:cNvSpPr/>
          <p:nvPr/>
        </p:nvSpPr>
        <p:spPr>
          <a:xfrm>
            <a:off x="822960" y="3474720"/>
            <a:ext cx="594360" cy="594360"/>
          </a:xfrm>
          <a:prstGeom prst="ellipse">
            <a:avLst/>
          </a:prstGeom>
          <a:solidFill>
            <a:schemeClr val="accent1"/>
          </a:solidFill>
          <a:ln/>
        </p:spPr>
      </p:sp>
      <p:pic>
        <p:nvPicPr>
          <p:cNvPr id="13" name="Image 2" descr="Restart loops">    </p:cNvPr>
          <p:cNvPicPr>
            <a:picLocks noChangeAspect="1"/>
          </p:cNvPicPr>
          <p:nvPr/>
        </p:nvPicPr>
        <p:blipFill>
          <a:blip r:embed="rId3"/>
          <a:stretch>
            <a:fillRect/>
          </a:stretch>
        </p:blipFill>
        <p:spPr>
          <a:xfrm>
            <a:off x="989381" y="3641141"/>
            <a:ext cx="261518" cy="261518"/>
          </a:xfrm>
          <a:prstGeom prst="rect">
            <a:avLst/>
          </a:prstGeom>
        </p:spPr>
      </p:pic>
      <p:sp>
        <p:nvSpPr>
          <p:cNvPr id="14" name="Text 9"/>
          <p:cNvSpPr txBox="1"/>
          <p:nvPr/>
        </p:nvSpPr>
        <p:spPr>
          <a:xfrm>
            <a:off x="1645920" y="3063240"/>
            <a:ext cx="4114800" cy="1417320"/>
          </a:xfrm>
          <a:prstGeom prst="rect">
            <a:avLst/>
          </a:prstGeom>
          <a:noFill/>
          <a:ln/>
        </p:spPr>
        <p:txBody>
          <a:bodyPr wrap="square" lIns="0" tIns="0" rIns="0" bIns="0" rtlCol="0" anchor="ctr"/>
          <a:lstStyle/>
          <a:p>
            <a:pPr indent="0" marL="0">
              <a:buNone/>
            </a:pPr>
            <a:r>
              <a:rPr lang="en-US" sz="1800" b="1" dirty="0">
                <a:solidFill>
                  <a:schemeClr val="tx1"/>
                </a:solidFill>
              </a:rPr>
              <a:t>Restart storms</a:t>
            </a:r>
            <a:endParaRPr lang="en-US" sz="1400" dirty="0"/>
          </a:p>
          <a:p>
            <a:pPr indent="0" marL="0">
              <a:buNone/>
            </a:pPr>
            <a:r>
              <a:rPr lang="en-US" sz="1400" dirty="0">
                <a:solidFill>
                  <a:schemeClr val="accent5"/>
                </a:solidFill>
              </a:rPr>
              <a:t>Attempt limit and cooldown; auto-retry is next</a:t>
            </a:r>
            <a:endParaRPr lang="en-US" sz="1400" dirty="0"/>
          </a:p>
        </p:txBody>
      </p:sp>
      <p:sp>
        <p:nvSpPr>
          <p:cNvPr id="15" name="Intentional stops"/>
          <p:cNvSpPr/>
          <p:nvPr/>
        </p:nvSpPr>
        <p:spPr>
          <a:xfrm>
            <a:off x="6172200" y="3063240"/>
            <a:ext cx="5440680" cy="1417320"/>
          </a:xfrm>
          <a:prstGeom prst="roundRect">
            <a:avLst>
              <a:gd name="adj" fmla="val 6452"/>
            </a:avLst>
          </a:prstGeom>
          <a:solidFill>
            <a:schemeClr val="bg2"/>
          </a:solidFill>
          <a:ln/>
        </p:spPr>
      </p:sp>
      <p:sp>
        <p:nvSpPr>
          <p:cNvPr id="16" name="Intentional stops circle"/>
          <p:cNvSpPr/>
          <p:nvPr/>
        </p:nvSpPr>
        <p:spPr>
          <a:xfrm>
            <a:off x="6446520" y="3474720"/>
            <a:ext cx="594360" cy="594360"/>
          </a:xfrm>
          <a:prstGeom prst="ellipse">
            <a:avLst/>
          </a:prstGeom>
          <a:solidFill>
            <a:schemeClr val="accent1"/>
          </a:solidFill>
          <a:ln/>
        </p:spPr>
      </p:sp>
      <p:pic>
        <p:nvPicPr>
          <p:cNvPr id="17" name="Image 3" descr="Intentional stops">    </p:cNvPr>
          <p:cNvPicPr>
            <a:picLocks noChangeAspect="1"/>
          </p:cNvPicPr>
          <p:nvPr/>
        </p:nvPicPr>
        <p:blipFill>
          <a:blip r:embed="rId4"/>
          <a:stretch>
            <a:fillRect/>
          </a:stretch>
        </p:blipFill>
        <p:spPr>
          <a:xfrm>
            <a:off x="6612941" y="3641141"/>
            <a:ext cx="261518" cy="261518"/>
          </a:xfrm>
          <a:prstGeom prst="rect">
            <a:avLst/>
          </a:prstGeom>
        </p:spPr>
      </p:pic>
      <p:sp>
        <p:nvSpPr>
          <p:cNvPr id="18" name="Text 12"/>
          <p:cNvSpPr txBox="1"/>
          <p:nvPr/>
        </p:nvSpPr>
        <p:spPr>
          <a:xfrm>
            <a:off x="7269480" y="3063240"/>
            <a:ext cx="4114800" cy="1417320"/>
          </a:xfrm>
          <a:prstGeom prst="rect">
            <a:avLst/>
          </a:prstGeom>
          <a:noFill/>
          <a:ln/>
        </p:spPr>
        <p:txBody>
          <a:bodyPr wrap="square" lIns="0" tIns="0" rIns="0" bIns="0" rtlCol="0" anchor="ctr"/>
          <a:lstStyle/>
          <a:p>
            <a:pPr indent="0" marL="0">
              <a:buNone/>
            </a:pPr>
            <a:r>
              <a:rPr lang="en-US" sz="1800" b="1" dirty="0">
                <a:solidFill>
                  <a:schemeClr val="tx1"/>
                </a:solidFill>
              </a:rPr>
              <a:t>Intentional stops</a:t>
            </a:r>
            <a:endParaRPr lang="en-US" sz="1400" dirty="0"/>
          </a:p>
          <a:p>
            <a:pPr indent="0" marL="0">
              <a:buNone/>
            </a:pPr>
            <a:r>
              <a:rPr lang="en-US" sz="1400" dirty="0">
                <a:solidFill>
                  <a:schemeClr val="accent5"/>
                </a:solidFill>
              </a:rPr>
              <a:t>expected_running flag for planned stops</a:t>
            </a:r>
            <a:endParaRPr lang="en-US" sz="1400" dirty="0"/>
          </a:p>
        </p:txBody>
      </p:sp>
      <p:sp>
        <p:nvSpPr>
          <p:cNvPr id="19" name="Permissions"/>
          <p:cNvSpPr/>
          <p:nvPr/>
        </p:nvSpPr>
        <p:spPr>
          <a:xfrm>
            <a:off x="548640" y="4663440"/>
            <a:ext cx="5440680" cy="1417320"/>
          </a:xfrm>
          <a:prstGeom prst="roundRect">
            <a:avLst>
              <a:gd name="adj" fmla="val 6452"/>
            </a:avLst>
          </a:prstGeom>
          <a:solidFill>
            <a:schemeClr val="bg2"/>
          </a:solidFill>
          <a:ln/>
        </p:spPr>
      </p:sp>
      <p:sp>
        <p:nvSpPr>
          <p:cNvPr id="20" name="Permissions circle"/>
          <p:cNvSpPr/>
          <p:nvPr/>
        </p:nvSpPr>
        <p:spPr>
          <a:xfrm>
            <a:off x="822960" y="5074920"/>
            <a:ext cx="594360" cy="594360"/>
          </a:xfrm>
          <a:prstGeom prst="ellipse">
            <a:avLst/>
          </a:prstGeom>
          <a:solidFill>
            <a:schemeClr val="accent1"/>
          </a:solidFill>
          <a:ln/>
        </p:spPr>
      </p:sp>
      <p:pic>
        <p:nvPicPr>
          <p:cNvPr id="21" name="Image 4" descr="Permissions">    </p:cNvPr>
          <p:cNvPicPr>
            <a:picLocks noChangeAspect="1"/>
          </p:cNvPicPr>
          <p:nvPr/>
        </p:nvPicPr>
        <p:blipFill>
          <a:blip r:embed="rId5"/>
          <a:stretch>
            <a:fillRect/>
          </a:stretch>
        </p:blipFill>
        <p:spPr>
          <a:xfrm>
            <a:off x="989381" y="5241341"/>
            <a:ext cx="261518" cy="261518"/>
          </a:xfrm>
          <a:prstGeom prst="rect">
            <a:avLst/>
          </a:prstGeom>
        </p:spPr>
      </p:pic>
      <p:sp>
        <p:nvSpPr>
          <p:cNvPr id="22" name="Text 15"/>
          <p:cNvSpPr txBox="1"/>
          <p:nvPr/>
        </p:nvSpPr>
        <p:spPr>
          <a:xfrm>
            <a:off x="1645920" y="4663440"/>
            <a:ext cx="4114800" cy="1417320"/>
          </a:xfrm>
          <a:prstGeom prst="rect">
            <a:avLst/>
          </a:prstGeom>
          <a:noFill/>
          <a:ln/>
        </p:spPr>
        <p:txBody>
          <a:bodyPr wrap="square" lIns="0" tIns="0" rIns="0" bIns="0" rtlCol="0" anchor="ctr"/>
          <a:lstStyle/>
          <a:p>
            <a:pPr indent="0" marL="0">
              <a:buNone/>
            </a:pPr>
            <a:r>
              <a:rPr lang="en-US" sz="1800" b="1" dirty="0">
                <a:solidFill>
                  <a:schemeClr val="tx1"/>
                </a:solidFill>
              </a:rPr>
              <a:t>Permissions</a:t>
            </a:r>
            <a:endParaRPr lang="en-US" sz="1400" dirty="0"/>
          </a:p>
          <a:p>
            <a:pPr indent="0" marL="0">
              <a:buNone/>
            </a:pPr>
            <a:r>
              <a:rPr lang="en-US" sz="1400" dirty="0">
                <a:solidFill>
                  <a:schemeClr val="accent5"/>
                </a:solidFill>
              </a:rPr>
              <a:t>Allowlisted script only; no frontend commands</a:t>
            </a:r>
            <a:endParaRPr lang="en-US" sz="1400" dirty="0"/>
          </a:p>
        </p:txBody>
      </p:sp>
      <p:sp>
        <p:nvSpPr>
          <p:cNvPr id="23" name="Monitoring overhead"/>
          <p:cNvSpPr/>
          <p:nvPr/>
        </p:nvSpPr>
        <p:spPr>
          <a:xfrm>
            <a:off x="6172200" y="4663440"/>
            <a:ext cx="5440680" cy="1417320"/>
          </a:xfrm>
          <a:prstGeom prst="roundRect">
            <a:avLst>
              <a:gd name="adj" fmla="val 6452"/>
            </a:avLst>
          </a:prstGeom>
          <a:solidFill>
            <a:schemeClr val="bg2"/>
          </a:solidFill>
          <a:ln/>
        </p:spPr>
      </p:sp>
      <p:sp>
        <p:nvSpPr>
          <p:cNvPr id="24" name="Monitoring overhead circle"/>
          <p:cNvSpPr/>
          <p:nvPr/>
        </p:nvSpPr>
        <p:spPr>
          <a:xfrm>
            <a:off x="6446520" y="5074920"/>
            <a:ext cx="594360" cy="594360"/>
          </a:xfrm>
          <a:prstGeom prst="ellipse">
            <a:avLst/>
          </a:prstGeom>
          <a:solidFill>
            <a:schemeClr val="accent1"/>
          </a:solidFill>
          <a:ln/>
        </p:spPr>
      </p:sp>
      <p:pic>
        <p:nvPicPr>
          <p:cNvPr id="25" name="Image 5" descr="Monitoring overhead">    </p:cNvPr>
          <p:cNvPicPr>
            <a:picLocks noChangeAspect="1"/>
          </p:cNvPicPr>
          <p:nvPr/>
        </p:nvPicPr>
        <p:blipFill>
          <a:blip r:embed="rId6"/>
          <a:stretch>
            <a:fillRect/>
          </a:stretch>
        </p:blipFill>
        <p:spPr>
          <a:xfrm>
            <a:off x="6612941" y="5241341"/>
            <a:ext cx="261518" cy="261518"/>
          </a:xfrm>
          <a:prstGeom prst="rect">
            <a:avLst/>
          </a:prstGeom>
        </p:spPr>
      </p:pic>
      <p:sp>
        <p:nvSpPr>
          <p:cNvPr id="26" name="Text 18"/>
          <p:cNvSpPr txBox="1"/>
          <p:nvPr/>
        </p:nvSpPr>
        <p:spPr>
          <a:xfrm>
            <a:off x="7269480" y="4663440"/>
            <a:ext cx="4114800" cy="1417320"/>
          </a:xfrm>
          <a:prstGeom prst="rect">
            <a:avLst/>
          </a:prstGeom>
          <a:noFill/>
          <a:ln/>
        </p:spPr>
        <p:txBody>
          <a:bodyPr wrap="square" lIns="0" tIns="0" rIns="0" bIns="0" rtlCol="0" anchor="ctr"/>
          <a:lstStyle/>
          <a:p>
            <a:pPr indent="0" marL="0">
              <a:buNone/>
            </a:pPr>
            <a:r>
              <a:rPr lang="en-US" sz="1800" b="1" dirty="0">
                <a:solidFill>
                  <a:schemeClr val="tx1"/>
                </a:solidFill>
              </a:rPr>
              <a:t>Monitoring overhead</a:t>
            </a:r>
            <a:endParaRPr lang="en-US" sz="1400" dirty="0"/>
          </a:p>
          <a:p>
            <a:pPr indent="0" marL="0">
              <a:buNone/>
            </a:pPr>
            <a:r>
              <a:rPr lang="en-US" sz="1400" dirty="0">
                <a:solidFill>
                  <a:schemeClr val="accent5"/>
                </a:solidFill>
              </a:rPr>
              <a:t>Light polling; interval is configurable</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Future Enhancements</a:t>
            </a:r>
            <a:endParaRPr lang="en-US" sz="3600" dirty="0"/>
          </a:p>
        </p:txBody>
      </p:sp>
      <p:sp>
        <p:nvSpPr>
          <p:cNvPr id="3" name="Core watchdog"/>
          <p:cNvSpPr/>
          <p:nvPr/>
        </p:nvSpPr>
        <p:spPr>
          <a:xfrm>
            <a:off x="548640" y="1554480"/>
            <a:ext cx="3566160" cy="3749040"/>
          </a:xfrm>
          <a:prstGeom prst="roundRect">
            <a:avLst>
              <a:gd name="adj" fmla="val 2564"/>
            </a:avLst>
          </a:prstGeom>
          <a:solidFill>
            <a:schemeClr val="bg2"/>
          </a:solidFill>
          <a:ln/>
        </p:spPr>
      </p:sp>
      <p:sp>
        <p:nvSpPr>
          <p:cNvPr id="4" name="Phase chip NOW"/>
          <p:cNvSpPr/>
          <p:nvPr/>
        </p:nvSpPr>
        <p:spPr>
          <a:xfrm>
            <a:off x="822960" y="1828800"/>
            <a:ext cx="1097280" cy="365760"/>
          </a:xfrm>
          <a:prstGeom prst="roundRect">
            <a:avLst>
              <a:gd name="adj" fmla="val 50000"/>
            </a:avLst>
          </a:prstGeom>
          <a:solidFill>
            <a:schemeClr val="accent1"/>
          </a:solidFill>
          <a:ln/>
        </p:spPr>
      </p:sp>
      <p:sp>
        <p:nvSpPr>
          <p:cNvPr id="5" name="Text 3"/>
          <p:cNvSpPr txBox="1"/>
          <p:nvPr/>
        </p:nvSpPr>
        <p:spPr>
          <a:xfrm>
            <a:off x="822960" y="1828800"/>
            <a:ext cx="1097280" cy="365760"/>
          </a:xfrm>
          <a:prstGeom prst="rect">
            <a:avLst/>
          </a:prstGeom>
          <a:noFill/>
          <a:ln/>
        </p:spPr>
        <p:txBody>
          <a:bodyPr wrap="square" lIns="0" tIns="0" rIns="0" bIns="0" rtlCol="0" anchor="ctr"/>
          <a:lstStyle/>
          <a:p>
            <a:pPr algn="ctr" indent="0" marL="0">
              <a:buNone/>
            </a:pPr>
            <a:r>
              <a:rPr lang="en-US" sz="1400" b="1" spc="200" kern="0" dirty="0">
                <a:solidFill>
                  <a:schemeClr val="bg1"/>
                </a:solidFill>
              </a:rPr>
              <a:t>NOW</a:t>
            </a:r>
            <a:endParaRPr lang="en-US" sz="1400" dirty="0"/>
          </a:p>
        </p:txBody>
      </p:sp>
      <p:sp>
        <p:nvSpPr>
          <p:cNvPr id="6" name="Text 4"/>
          <p:cNvSpPr txBox="1"/>
          <p:nvPr/>
        </p:nvSpPr>
        <p:spPr>
          <a:xfrm>
            <a:off x="822960" y="2423160"/>
            <a:ext cx="3108960" cy="457200"/>
          </a:xfrm>
          <a:prstGeom prst="rect">
            <a:avLst/>
          </a:prstGeom>
          <a:noFill/>
          <a:ln/>
        </p:spPr>
        <p:txBody>
          <a:bodyPr wrap="square" lIns="0" tIns="0" rIns="0" bIns="0" rtlCol="0" anchor="t"/>
          <a:lstStyle/>
          <a:p>
            <a:pPr indent="0" marL="0">
              <a:buNone/>
            </a:pPr>
            <a:r>
              <a:rPr lang="en-US" sz="2000" b="1" dirty="0">
                <a:solidFill>
                  <a:schemeClr val="tx1"/>
                </a:solidFill>
              </a:rPr>
              <a:t>Working today</a:t>
            </a:r>
            <a:endParaRPr lang="en-US" sz="2000" dirty="0"/>
          </a:p>
        </p:txBody>
      </p:sp>
      <p:sp>
        <p:nvSpPr>
          <p:cNvPr id="7" name="Text 5"/>
          <p:cNvSpPr txBox="1"/>
          <p:nvPr/>
        </p:nvSpPr>
        <p:spPr>
          <a:xfrm>
            <a:off x="822960" y="3108960"/>
            <a:ext cx="310896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Process polling with psutil</a:t>
            </a:r>
            <a:endParaRPr lang="en-US" sz="1600" dirty="0"/>
          </a:p>
          <a:p>
            <a:pPr marL="342900" indent="-342900">
              <a:spcAft>
                <a:spcPts val="1000"/>
              </a:spcAft>
              <a:buSzPct val="100000"/>
              <a:buChar char="•"/>
            </a:pPr>
            <a:r>
              <a:rPr lang="en-US" sz="1600" dirty="0">
                <a:solidFill>
                  <a:schemeClr val="tx1"/>
                </a:solidFill>
              </a:rPr>
              <a:t>Verified auto-restart</a:t>
            </a:r>
            <a:endParaRPr lang="en-US" sz="1600" dirty="0"/>
          </a:p>
          <a:p>
            <a:pPr marL="342900" indent="-342900">
              <a:spcAft>
                <a:spcPts val="1000"/>
              </a:spcAft>
              <a:buSzPct val="100000"/>
              <a:buChar char="•"/>
            </a:pPr>
            <a:r>
              <a:rPr lang="en-US" sz="1600" dirty="0">
                <a:solidFill>
                  <a:schemeClr val="tx1"/>
                </a:solidFill>
              </a:rPr>
              <a:t>Incidents, timeline, alerts</a:t>
            </a:r>
            <a:endParaRPr lang="en-US" sz="1600" dirty="0"/>
          </a:p>
          <a:p>
            <a:pPr marL="342900" indent="-342900">
              <a:spcAft>
                <a:spcPts val="1000"/>
              </a:spcAft>
              <a:buSzPct val="100000"/>
              <a:buChar char="•"/>
            </a:pPr>
            <a:r>
              <a:rPr lang="en-US" sz="1600" dirty="0">
                <a:solidFill>
                  <a:schemeClr val="tx1"/>
                </a:solidFill>
              </a:rPr>
              <a:t>React dashboard (LIVE mode)</a:t>
            </a:r>
            <a:endParaRPr lang="en-US" sz="1600" dirty="0"/>
          </a:p>
        </p:txBody>
      </p:sp>
      <p:sp>
        <p:nvSpPr>
          <p:cNvPr id="8" name="Smarter health checks"/>
          <p:cNvSpPr/>
          <p:nvPr/>
        </p:nvSpPr>
        <p:spPr>
          <a:xfrm>
            <a:off x="4297680" y="1554480"/>
            <a:ext cx="3566160" cy="3749040"/>
          </a:xfrm>
          <a:prstGeom prst="roundRect">
            <a:avLst>
              <a:gd name="adj" fmla="val 2564"/>
            </a:avLst>
          </a:prstGeom>
          <a:solidFill>
            <a:schemeClr val="bg2"/>
          </a:solidFill>
          <a:ln/>
        </p:spPr>
      </p:sp>
      <p:sp>
        <p:nvSpPr>
          <p:cNvPr id="9" name="Phase chip NEXT"/>
          <p:cNvSpPr/>
          <p:nvPr/>
        </p:nvSpPr>
        <p:spPr>
          <a:xfrm>
            <a:off x="4572000" y="1828800"/>
            <a:ext cx="1097280" cy="365760"/>
          </a:xfrm>
          <a:prstGeom prst="roundRect">
            <a:avLst>
              <a:gd name="adj" fmla="val 50000"/>
            </a:avLst>
          </a:prstGeom>
          <a:solidFill>
            <a:schemeClr val="accent2"/>
          </a:solidFill>
          <a:ln/>
        </p:spPr>
      </p:sp>
      <p:sp>
        <p:nvSpPr>
          <p:cNvPr id="10" name="Text 8"/>
          <p:cNvSpPr txBox="1"/>
          <p:nvPr/>
        </p:nvSpPr>
        <p:spPr>
          <a:xfrm>
            <a:off x="4572000" y="1828800"/>
            <a:ext cx="1097280" cy="365760"/>
          </a:xfrm>
          <a:prstGeom prst="rect">
            <a:avLst/>
          </a:prstGeom>
          <a:noFill/>
          <a:ln/>
        </p:spPr>
        <p:txBody>
          <a:bodyPr wrap="square" lIns="0" tIns="0" rIns="0" bIns="0" rtlCol="0" anchor="ctr"/>
          <a:lstStyle/>
          <a:p>
            <a:pPr algn="ctr" indent="0" marL="0">
              <a:buNone/>
            </a:pPr>
            <a:r>
              <a:rPr lang="en-US" sz="1400" b="1" spc="200" kern="0" dirty="0">
                <a:solidFill>
                  <a:schemeClr val="tx1"/>
                </a:solidFill>
              </a:rPr>
              <a:t>NEXT</a:t>
            </a:r>
            <a:endParaRPr lang="en-US" sz="1400" dirty="0"/>
          </a:p>
        </p:txBody>
      </p:sp>
      <p:sp>
        <p:nvSpPr>
          <p:cNvPr id="11" name="Text 9"/>
          <p:cNvSpPr txBox="1"/>
          <p:nvPr/>
        </p:nvSpPr>
        <p:spPr>
          <a:xfrm>
            <a:off x="4572000" y="2423160"/>
            <a:ext cx="3108960" cy="457200"/>
          </a:xfrm>
          <a:prstGeom prst="rect">
            <a:avLst/>
          </a:prstGeom>
          <a:noFill/>
          <a:ln/>
        </p:spPr>
        <p:txBody>
          <a:bodyPr wrap="square" lIns="0" tIns="0" rIns="0" bIns="0" rtlCol="0" anchor="t"/>
          <a:lstStyle/>
          <a:p>
            <a:pPr indent="0" marL="0">
              <a:buNone/>
            </a:pPr>
            <a:r>
              <a:rPr lang="en-US" sz="2000" b="1" dirty="0">
                <a:solidFill>
                  <a:schemeClr val="tx1"/>
                </a:solidFill>
              </a:rPr>
              <a:t>Hardening</a:t>
            </a:r>
            <a:endParaRPr lang="en-US" sz="2000" dirty="0"/>
          </a:p>
        </p:txBody>
      </p:sp>
      <p:sp>
        <p:nvSpPr>
          <p:cNvPr id="12" name="Text 10"/>
          <p:cNvSpPr txBox="1"/>
          <p:nvPr/>
        </p:nvSpPr>
        <p:spPr>
          <a:xfrm>
            <a:off x="4572000" y="3108960"/>
            <a:ext cx="310896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Auto-retry up to policy limit</a:t>
            </a:r>
            <a:endParaRPr lang="en-US" sz="1600" dirty="0"/>
          </a:p>
          <a:p>
            <a:pPr marL="342900" indent="-342900">
              <a:spcAft>
                <a:spcPts val="1000"/>
              </a:spcAft>
              <a:buSzPct val="100000"/>
              <a:buChar char="•"/>
            </a:pPr>
            <a:r>
              <a:rPr lang="en-US" sz="1600" dirty="0">
                <a:solidFill>
                  <a:schemeClr val="tx1"/>
                </a:solidFill>
              </a:rPr>
              <a:t>Authentication and roles</a:t>
            </a:r>
            <a:endParaRPr lang="en-US" sz="1600" dirty="0"/>
          </a:p>
          <a:p>
            <a:pPr marL="342900" indent="-342900">
              <a:spcAft>
                <a:spcPts val="1000"/>
              </a:spcAft>
              <a:buSzPct val="100000"/>
              <a:buChar char="•"/>
            </a:pPr>
            <a:r>
              <a:rPr lang="en-US" sz="1600" dirty="0">
                <a:solidFill>
                  <a:schemeClr val="tx1"/>
                </a:solidFill>
              </a:rPr>
              <a:t>Fix summary endpoint, sync forms</a:t>
            </a:r>
            <a:endParaRPr lang="en-US" sz="1600" dirty="0"/>
          </a:p>
        </p:txBody>
      </p:sp>
      <p:sp>
        <p:nvSpPr>
          <p:cNvPr id="13" name="Scale and visibility"/>
          <p:cNvSpPr/>
          <p:nvPr/>
        </p:nvSpPr>
        <p:spPr>
          <a:xfrm>
            <a:off x="8046720" y="1554480"/>
            <a:ext cx="3566160" cy="3749040"/>
          </a:xfrm>
          <a:prstGeom prst="roundRect">
            <a:avLst>
              <a:gd name="adj" fmla="val 2564"/>
            </a:avLst>
          </a:prstGeom>
          <a:solidFill>
            <a:schemeClr val="bg2"/>
          </a:solidFill>
          <a:ln/>
        </p:spPr>
      </p:sp>
      <p:sp>
        <p:nvSpPr>
          <p:cNvPr id="14" name="Phase chip LATER"/>
          <p:cNvSpPr/>
          <p:nvPr/>
        </p:nvSpPr>
        <p:spPr>
          <a:xfrm>
            <a:off x="8321040" y="1828800"/>
            <a:ext cx="1097280" cy="365760"/>
          </a:xfrm>
          <a:prstGeom prst="roundRect">
            <a:avLst>
              <a:gd name="adj" fmla="val 50000"/>
            </a:avLst>
          </a:prstGeom>
          <a:solidFill>
            <a:schemeClr val="accent3"/>
          </a:solidFill>
          <a:ln/>
        </p:spPr>
      </p:sp>
      <p:sp>
        <p:nvSpPr>
          <p:cNvPr id="15" name="Text 13"/>
          <p:cNvSpPr txBox="1"/>
          <p:nvPr/>
        </p:nvSpPr>
        <p:spPr>
          <a:xfrm>
            <a:off x="8321040" y="1828800"/>
            <a:ext cx="1097280" cy="365760"/>
          </a:xfrm>
          <a:prstGeom prst="rect">
            <a:avLst/>
          </a:prstGeom>
          <a:noFill/>
          <a:ln/>
        </p:spPr>
        <p:txBody>
          <a:bodyPr wrap="square" lIns="0" tIns="0" rIns="0" bIns="0" rtlCol="0" anchor="ctr"/>
          <a:lstStyle/>
          <a:p>
            <a:pPr algn="ctr" indent="0" marL="0">
              <a:buNone/>
            </a:pPr>
            <a:r>
              <a:rPr lang="en-US" sz="1400" b="1" spc="200" kern="0" dirty="0">
                <a:solidFill>
                  <a:schemeClr val="bg1"/>
                </a:solidFill>
              </a:rPr>
              <a:t>LATER</a:t>
            </a:r>
            <a:endParaRPr lang="en-US" sz="1400" dirty="0"/>
          </a:p>
        </p:txBody>
      </p:sp>
      <p:sp>
        <p:nvSpPr>
          <p:cNvPr id="16" name="Text 14"/>
          <p:cNvSpPr txBox="1"/>
          <p:nvPr/>
        </p:nvSpPr>
        <p:spPr>
          <a:xfrm>
            <a:off x="8321040" y="2423160"/>
            <a:ext cx="3108960" cy="457200"/>
          </a:xfrm>
          <a:prstGeom prst="rect">
            <a:avLst/>
          </a:prstGeom>
          <a:noFill/>
          <a:ln/>
        </p:spPr>
        <p:txBody>
          <a:bodyPr wrap="square" lIns="0" tIns="0" rIns="0" bIns="0" rtlCol="0" anchor="t"/>
          <a:lstStyle/>
          <a:p>
            <a:pPr indent="0" marL="0">
              <a:buNone/>
            </a:pPr>
            <a:r>
              <a:rPr lang="en-US" sz="2000" b="1" dirty="0">
                <a:solidFill>
                  <a:schemeClr val="tx1"/>
                </a:solidFill>
              </a:rPr>
              <a:t>Scale and integrations</a:t>
            </a:r>
            <a:endParaRPr lang="en-US" sz="2000" dirty="0"/>
          </a:p>
        </p:txBody>
      </p:sp>
      <p:sp>
        <p:nvSpPr>
          <p:cNvPr id="17" name="Text 15"/>
          <p:cNvSpPr txBox="1"/>
          <p:nvPr/>
        </p:nvSpPr>
        <p:spPr>
          <a:xfrm>
            <a:off x="8321040" y="3108960"/>
            <a:ext cx="310896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PostgreSQL, containers</a:t>
            </a:r>
            <a:endParaRPr lang="en-US" sz="1600" dirty="0"/>
          </a:p>
          <a:p>
            <a:pPr marL="342900" indent="-342900">
              <a:spcAft>
                <a:spcPts val="1000"/>
              </a:spcAft>
              <a:buSzPct val="100000"/>
              <a:buChar char="•"/>
            </a:pPr>
            <a:r>
              <a:rPr lang="en-US" sz="1600" dirty="0">
                <a:solidFill>
                  <a:schemeClr val="tx1"/>
                </a:solidFill>
              </a:rPr>
              <a:t>Teams alerts, Azure deployment</a:t>
            </a:r>
            <a:endParaRPr lang="en-US" sz="1600" dirty="0"/>
          </a:p>
          <a:p>
            <a:pPr marL="342900" indent="-342900">
              <a:spcAft>
                <a:spcPts val="1000"/>
              </a:spcAft>
              <a:buSzPct val="100000"/>
              <a:buChar char="•"/>
            </a:pPr>
            <a:r>
              <a:rPr lang="en-US" sz="1600" dirty="0">
                <a:solidFill>
                  <a:schemeClr val="tx1"/>
                </a:solidFill>
              </a:rPr>
              <a:t>Real services, multi-host</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Conclusion</a:t>
            </a:r>
            <a:endParaRPr lang="en-US" sz="3600" dirty="0"/>
          </a:p>
        </p:txBody>
      </p:sp>
      <p:sp>
        <p:nvSpPr>
          <p:cNvPr id="3" name="Automatic recovery circle"/>
          <p:cNvSpPr/>
          <p:nvPr/>
        </p:nvSpPr>
        <p:spPr>
          <a:xfrm>
            <a:off x="548640" y="1645920"/>
            <a:ext cx="640080" cy="640080"/>
          </a:xfrm>
          <a:prstGeom prst="ellipse">
            <a:avLst/>
          </a:prstGeom>
          <a:solidFill>
            <a:schemeClr val="accent1"/>
          </a:solidFill>
          <a:ln/>
        </p:spPr>
      </p:sp>
      <p:pic>
        <p:nvPicPr>
          <p:cNvPr id="4" name="Image 0" descr="Automatic recovery">    </p:cNvPr>
          <p:cNvPicPr>
            <a:picLocks noChangeAspect="1"/>
          </p:cNvPicPr>
          <p:nvPr/>
        </p:nvPicPr>
        <p:blipFill>
          <a:blip r:embed="rId1"/>
          <a:stretch>
            <a:fillRect/>
          </a:stretch>
        </p:blipFill>
        <p:spPr>
          <a:xfrm>
            <a:off x="727862" y="1825142"/>
            <a:ext cx="281635" cy="281635"/>
          </a:xfrm>
          <a:prstGeom prst="rect">
            <a:avLst/>
          </a:prstGeom>
        </p:spPr>
      </p:pic>
      <p:sp>
        <p:nvSpPr>
          <p:cNvPr id="5" name="Text 2"/>
          <p:cNvSpPr txBox="1"/>
          <p:nvPr/>
        </p:nvSpPr>
        <p:spPr>
          <a:xfrm>
            <a:off x="1371600" y="1463040"/>
            <a:ext cx="5760720" cy="1005840"/>
          </a:xfrm>
          <a:prstGeom prst="rect">
            <a:avLst/>
          </a:prstGeom>
          <a:noFill/>
          <a:ln/>
        </p:spPr>
        <p:txBody>
          <a:bodyPr wrap="square" lIns="0" tIns="0" rIns="0" bIns="0" rtlCol="0" anchor="ctr"/>
          <a:lstStyle/>
          <a:p>
            <a:pPr indent="0" marL="0">
              <a:buNone/>
            </a:pPr>
            <a:r>
              <a:rPr lang="en-US" sz="1800" b="1" dirty="0">
                <a:solidFill>
                  <a:schemeClr val="bg1"/>
                </a:solidFill>
              </a:rPr>
              <a:t>Automatic recovery</a:t>
            </a:r>
            <a:endParaRPr lang="en-US" sz="1400" dirty="0"/>
          </a:p>
          <a:p>
            <a:pPr indent="0" marL="0">
              <a:buNone/>
            </a:pPr>
            <a:r>
              <a:rPr lang="en-US" sz="1400" dirty="0">
                <a:solidFill>
                  <a:schemeClr val="bg2"/>
                </a:solidFill>
              </a:rPr>
              <a:t>Terminations of allowlisted processes are detected and restarted automatically</a:t>
            </a:r>
            <a:endParaRPr lang="en-US" sz="1400" dirty="0"/>
          </a:p>
        </p:txBody>
      </p:sp>
      <p:sp>
        <p:nvSpPr>
          <p:cNvPr id="6" name="Safe by design circle"/>
          <p:cNvSpPr/>
          <p:nvPr/>
        </p:nvSpPr>
        <p:spPr>
          <a:xfrm>
            <a:off x="548640" y="2834640"/>
            <a:ext cx="640080" cy="640080"/>
          </a:xfrm>
          <a:prstGeom prst="ellipse">
            <a:avLst/>
          </a:prstGeom>
          <a:solidFill>
            <a:schemeClr val="accent1"/>
          </a:solidFill>
          <a:ln/>
        </p:spPr>
      </p:sp>
      <p:pic>
        <p:nvPicPr>
          <p:cNvPr id="7" name="Image 1" descr="Safe by design">    </p:cNvPr>
          <p:cNvPicPr>
            <a:picLocks noChangeAspect="1"/>
          </p:cNvPicPr>
          <p:nvPr/>
        </p:nvPicPr>
        <p:blipFill>
          <a:blip r:embed="rId2"/>
          <a:stretch>
            <a:fillRect/>
          </a:stretch>
        </p:blipFill>
        <p:spPr>
          <a:xfrm>
            <a:off x="727862" y="3013862"/>
            <a:ext cx="281635" cy="281635"/>
          </a:xfrm>
          <a:prstGeom prst="rect">
            <a:avLst/>
          </a:prstGeom>
        </p:spPr>
      </p:pic>
      <p:sp>
        <p:nvSpPr>
          <p:cNvPr id="8" name="Text 4"/>
          <p:cNvSpPr txBox="1"/>
          <p:nvPr/>
        </p:nvSpPr>
        <p:spPr>
          <a:xfrm>
            <a:off x="1371600" y="2651760"/>
            <a:ext cx="5760720" cy="1005840"/>
          </a:xfrm>
          <a:prstGeom prst="rect">
            <a:avLst/>
          </a:prstGeom>
          <a:noFill/>
          <a:ln/>
        </p:spPr>
        <p:txBody>
          <a:bodyPr wrap="square" lIns="0" tIns="0" rIns="0" bIns="0" rtlCol="0" anchor="ctr"/>
          <a:lstStyle/>
          <a:p>
            <a:pPr indent="0" marL="0">
              <a:buNone/>
            </a:pPr>
            <a:r>
              <a:rPr lang="en-US" sz="1800" b="1" dirty="0">
                <a:solidFill>
                  <a:schemeClr val="bg1"/>
                </a:solidFill>
              </a:rPr>
              <a:t>Safe by design</a:t>
            </a:r>
            <a:endParaRPr lang="en-US" sz="1400" dirty="0"/>
          </a:p>
          <a:p>
            <a:pPr indent="0" marL="0">
              <a:buNone/>
            </a:pPr>
            <a:r>
              <a:rPr lang="en-US" sz="1400" dirty="0">
                <a:solidFill>
                  <a:schemeClr val="bg2"/>
                </a:solidFill>
              </a:rPr>
              <a:t>Allowlist, identity checks and attempt limits</a:t>
            </a:r>
            <a:endParaRPr lang="en-US" sz="1400" dirty="0"/>
          </a:p>
        </p:txBody>
      </p:sp>
      <p:sp>
        <p:nvSpPr>
          <p:cNvPr id="9" name="Observable circle"/>
          <p:cNvSpPr/>
          <p:nvPr/>
        </p:nvSpPr>
        <p:spPr>
          <a:xfrm>
            <a:off x="548640" y="4023360"/>
            <a:ext cx="640080" cy="640080"/>
          </a:xfrm>
          <a:prstGeom prst="ellipse">
            <a:avLst/>
          </a:prstGeom>
          <a:solidFill>
            <a:schemeClr val="accent1"/>
          </a:solidFill>
          <a:ln/>
        </p:spPr>
      </p:sp>
      <p:pic>
        <p:nvPicPr>
          <p:cNvPr id="10" name="Image 2" descr="Observable">    </p:cNvPr>
          <p:cNvPicPr>
            <a:picLocks noChangeAspect="1"/>
          </p:cNvPicPr>
          <p:nvPr/>
        </p:nvPicPr>
        <p:blipFill>
          <a:blip r:embed="rId3"/>
          <a:stretch>
            <a:fillRect/>
          </a:stretch>
        </p:blipFill>
        <p:spPr>
          <a:xfrm>
            <a:off x="727862" y="4202582"/>
            <a:ext cx="281635" cy="281635"/>
          </a:xfrm>
          <a:prstGeom prst="rect">
            <a:avLst/>
          </a:prstGeom>
        </p:spPr>
      </p:pic>
      <p:sp>
        <p:nvSpPr>
          <p:cNvPr id="11" name="Text 6"/>
          <p:cNvSpPr txBox="1"/>
          <p:nvPr/>
        </p:nvSpPr>
        <p:spPr>
          <a:xfrm>
            <a:off x="1371600" y="3840480"/>
            <a:ext cx="5760720" cy="1005840"/>
          </a:xfrm>
          <a:prstGeom prst="rect">
            <a:avLst/>
          </a:prstGeom>
          <a:noFill/>
          <a:ln/>
        </p:spPr>
        <p:txBody>
          <a:bodyPr wrap="square" lIns="0" tIns="0" rIns="0" bIns="0" rtlCol="0" anchor="ctr"/>
          <a:lstStyle/>
          <a:p>
            <a:pPr indent="0" marL="0">
              <a:buNone/>
            </a:pPr>
            <a:r>
              <a:rPr lang="en-US" sz="1800" b="1" dirty="0">
                <a:solidFill>
                  <a:schemeClr val="bg1"/>
                </a:solidFill>
              </a:rPr>
              <a:t>Observable</a:t>
            </a:r>
            <a:endParaRPr lang="en-US" sz="1400" dirty="0"/>
          </a:p>
          <a:p>
            <a:pPr indent="0" marL="0">
              <a:buNone/>
            </a:pPr>
            <a:r>
              <a:rPr lang="en-US" sz="1400" dirty="0">
                <a:solidFill>
                  <a:schemeClr val="bg2"/>
                </a:solidFill>
              </a:rPr>
              <a:t>Every incident has a timeline; outcomes raise alerts</a:t>
            </a:r>
            <a:endParaRPr lang="en-US" sz="1400" dirty="0"/>
          </a:p>
        </p:txBody>
      </p:sp>
      <p:sp>
        <p:nvSpPr>
          <p:cNvPr id="12" name="Lightweight circle"/>
          <p:cNvSpPr/>
          <p:nvPr/>
        </p:nvSpPr>
        <p:spPr>
          <a:xfrm>
            <a:off x="548640" y="5212080"/>
            <a:ext cx="640080" cy="640080"/>
          </a:xfrm>
          <a:prstGeom prst="ellipse">
            <a:avLst/>
          </a:prstGeom>
          <a:solidFill>
            <a:schemeClr val="accent1"/>
          </a:solidFill>
          <a:ln/>
        </p:spPr>
      </p:sp>
      <p:pic>
        <p:nvPicPr>
          <p:cNvPr id="13" name="Image 3" descr="Lightweight">    </p:cNvPr>
          <p:cNvPicPr>
            <a:picLocks noChangeAspect="1"/>
          </p:cNvPicPr>
          <p:nvPr/>
        </p:nvPicPr>
        <p:blipFill>
          <a:blip r:embed="rId4"/>
          <a:stretch>
            <a:fillRect/>
          </a:stretch>
        </p:blipFill>
        <p:spPr>
          <a:xfrm>
            <a:off x="727862" y="5391302"/>
            <a:ext cx="281635" cy="281635"/>
          </a:xfrm>
          <a:prstGeom prst="rect">
            <a:avLst/>
          </a:prstGeom>
        </p:spPr>
      </p:pic>
      <p:sp>
        <p:nvSpPr>
          <p:cNvPr id="14" name="Text 8"/>
          <p:cNvSpPr txBox="1"/>
          <p:nvPr/>
        </p:nvSpPr>
        <p:spPr>
          <a:xfrm>
            <a:off x="1371600" y="5029200"/>
            <a:ext cx="5760720" cy="1005840"/>
          </a:xfrm>
          <a:prstGeom prst="rect">
            <a:avLst/>
          </a:prstGeom>
          <a:noFill/>
          <a:ln/>
        </p:spPr>
        <p:txBody>
          <a:bodyPr wrap="square" lIns="0" tIns="0" rIns="0" bIns="0" rtlCol="0" anchor="ctr"/>
          <a:lstStyle/>
          <a:p>
            <a:pPr indent="0" marL="0">
              <a:buNone/>
            </a:pPr>
            <a:r>
              <a:rPr lang="en-US" sz="1800" b="1" dirty="0">
                <a:solidFill>
                  <a:schemeClr val="bg1"/>
                </a:solidFill>
              </a:rPr>
              <a:t>Lightweight</a:t>
            </a:r>
            <a:endParaRPr lang="en-US" sz="1400" dirty="0"/>
          </a:p>
          <a:p>
            <a:pPr indent="0" marL="0">
              <a:buNone/>
            </a:pPr>
            <a:r>
              <a:rPr lang="en-US" sz="1400" dirty="0">
                <a:solidFill>
                  <a:schemeClr val="bg2"/>
                </a:solidFill>
              </a:rPr>
              <a:t>Python, FastAPI, SQLite and psutil; no heavy dependencies</a:t>
            </a:r>
            <a:endParaRPr lang="en-US" sz="1400" dirty="0"/>
          </a:p>
        </p:txBody>
      </p:sp>
      <p:sp>
        <p:nvSpPr>
          <p:cNvPr id="15" name="Thank you panel"/>
          <p:cNvSpPr/>
          <p:nvPr/>
        </p:nvSpPr>
        <p:spPr>
          <a:xfrm>
            <a:off x="7680960" y="1463040"/>
            <a:ext cx="3931920" cy="4663440"/>
          </a:xfrm>
          <a:prstGeom prst="roundRect">
            <a:avLst>
              <a:gd name="adj" fmla="val 2326"/>
            </a:avLst>
          </a:prstGeom>
          <a:solidFill>
            <a:schemeClr val="tx2"/>
          </a:solidFill>
          <a:ln/>
        </p:spPr>
      </p:sp>
      <p:sp>
        <p:nvSpPr>
          <p:cNvPr id="16" name="Text 10"/>
          <p:cNvSpPr txBox="1"/>
          <p:nvPr/>
        </p:nvSpPr>
        <p:spPr>
          <a:xfrm>
            <a:off x="7955280" y="1737360"/>
            <a:ext cx="3383280" cy="731520"/>
          </a:xfrm>
          <a:prstGeom prst="rect">
            <a:avLst/>
          </a:prstGeom>
          <a:noFill/>
          <a:ln/>
        </p:spPr>
        <p:txBody>
          <a:bodyPr wrap="square" lIns="0" tIns="0" rIns="0" bIns="0" rtlCol="0" anchor="t"/>
          <a:lstStyle/>
          <a:p>
            <a:pPr indent="0" marL="0">
              <a:buNone/>
            </a:pPr>
            <a:r>
              <a:rPr lang="en-US" sz="3600" b="1" dirty="0">
                <a:solidFill>
                  <a:schemeClr val="accent6"/>
                </a:solidFill>
                <a:latin typeface="Cambria" pitchFamily="34" charset="0"/>
                <a:ea typeface="Cambria" pitchFamily="34" charset="-122"/>
                <a:cs typeface="Cambria" pitchFamily="34" charset="-120"/>
              </a:rPr>
              <a:t>Thank You</a:t>
            </a:r>
            <a:endParaRPr lang="en-US" sz="3600" dirty="0"/>
          </a:p>
        </p:txBody>
      </p:sp>
      <p:sp>
        <p:nvSpPr>
          <p:cNvPr id="17" name="Text 11"/>
          <p:cNvSpPr txBox="1"/>
          <p:nvPr/>
        </p:nvSpPr>
        <p:spPr>
          <a:xfrm>
            <a:off x="7955280" y="2514600"/>
            <a:ext cx="3383280" cy="365760"/>
          </a:xfrm>
          <a:prstGeom prst="rect">
            <a:avLst/>
          </a:prstGeom>
          <a:noFill/>
          <a:ln/>
        </p:spPr>
        <p:txBody>
          <a:bodyPr wrap="square" lIns="0" tIns="0" rIns="0" bIns="0" rtlCol="0" anchor="t"/>
          <a:lstStyle/>
          <a:p>
            <a:pPr indent="0" marL="0">
              <a:buNone/>
            </a:pPr>
            <a:r>
              <a:rPr lang="en-US" sz="1600" dirty="0">
                <a:solidFill>
                  <a:schemeClr val="bg2"/>
                </a:solidFill>
              </a:rPr>
              <a:t>Questions and discussion</a:t>
            </a:r>
            <a:endParaRPr lang="en-US" sz="1600" dirty="0"/>
          </a:p>
        </p:txBody>
      </p:sp>
      <p:sp>
        <p:nvSpPr>
          <p:cNvPr id="18" name="Text 12"/>
          <p:cNvSpPr txBox="1"/>
          <p:nvPr/>
        </p:nvSpPr>
        <p:spPr>
          <a:xfrm>
            <a:off x="7955280" y="3200400"/>
            <a:ext cx="3383280" cy="594360"/>
          </a:xfrm>
          <a:prstGeom prst="rect">
            <a:avLst/>
          </a:prstGeom>
          <a:noFill/>
          <a:ln/>
        </p:spPr>
        <p:txBody>
          <a:bodyPr wrap="square" lIns="0" tIns="0" rIns="0" bIns="0" rtlCol="0" anchor="t"/>
          <a:lstStyle/>
          <a:p>
            <a:pPr indent="0" marL="0">
              <a:buNone/>
            </a:pPr>
            <a:r>
              <a:rPr lang="en-US" sz="1600" b="1" dirty="0">
                <a:solidFill>
                  <a:schemeClr val="bg1"/>
                </a:solidFill>
              </a:rPr>
              <a:t>Bhanu Jakka</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2520030006</a:t>
            </a:r>
            <a:endParaRPr lang="en-US" sz="1400" dirty="0"/>
          </a:p>
        </p:txBody>
      </p:sp>
      <p:sp>
        <p:nvSpPr>
          <p:cNvPr id="19" name="Text 13"/>
          <p:cNvSpPr txBox="1"/>
          <p:nvPr/>
        </p:nvSpPr>
        <p:spPr>
          <a:xfrm>
            <a:off x="7955280" y="3913632"/>
            <a:ext cx="3383280" cy="594360"/>
          </a:xfrm>
          <a:prstGeom prst="rect">
            <a:avLst/>
          </a:prstGeom>
          <a:noFill/>
          <a:ln/>
        </p:spPr>
        <p:txBody>
          <a:bodyPr wrap="square" lIns="0" tIns="0" rIns="0" bIns="0" rtlCol="0" anchor="t"/>
          <a:lstStyle/>
          <a:p>
            <a:pPr indent="0" marL="0">
              <a:buNone/>
            </a:pPr>
            <a:r>
              <a:rPr lang="en-US" sz="1600" b="1" dirty="0">
                <a:solidFill>
                  <a:schemeClr val="bg1"/>
                </a:solidFill>
              </a:rPr>
              <a:t>Akshita Anand</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2520030043</a:t>
            </a:r>
            <a:endParaRPr lang="en-US" sz="1400" dirty="0"/>
          </a:p>
        </p:txBody>
      </p:sp>
      <p:sp>
        <p:nvSpPr>
          <p:cNvPr id="20" name="Text 14"/>
          <p:cNvSpPr txBox="1"/>
          <p:nvPr/>
        </p:nvSpPr>
        <p:spPr>
          <a:xfrm>
            <a:off x="7955280" y="4626864"/>
            <a:ext cx="3383280" cy="594360"/>
          </a:xfrm>
          <a:prstGeom prst="rect">
            <a:avLst/>
          </a:prstGeom>
          <a:noFill/>
          <a:ln/>
        </p:spPr>
        <p:txBody>
          <a:bodyPr wrap="square" lIns="0" tIns="0" rIns="0" bIns="0" rtlCol="0" anchor="t"/>
          <a:lstStyle/>
          <a:p>
            <a:pPr indent="0" marL="0">
              <a:buNone/>
            </a:pPr>
            <a:r>
              <a:rPr lang="en-US" sz="1600" b="1" dirty="0">
                <a:solidFill>
                  <a:schemeClr val="bg1"/>
                </a:solidFill>
              </a:rPr>
              <a:t>A. Kuvira</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2520030192</a:t>
            </a:r>
            <a:endParaRPr lang="en-US" sz="1400" dirty="0"/>
          </a:p>
        </p:txBody>
      </p:sp>
      <p:sp>
        <p:nvSpPr>
          <p:cNvPr id="21" name="Text 15"/>
          <p:cNvSpPr txBox="1"/>
          <p:nvPr/>
        </p:nvSpPr>
        <p:spPr>
          <a:xfrm>
            <a:off x="7955280" y="5340096"/>
            <a:ext cx="3383280" cy="594360"/>
          </a:xfrm>
          <a:prstGeom prst="rect">
            <a:avLst/>
          </a:prstGeom>
          <a:noFill/>
          <a:ln/>
        </p:spPr>
        <p:txBody>
          <a:bodyPr wrap="square" lIns="0" tIns="0" rIns="0" bIns="0" rtlCol="0" anchor="t"/>
          <a:lstStyle/>
          <a:p>
            <a:pPr indent="0" marL="0">
              <a:buNone/>
            </a:pPr>
            <a:r>
              <a:rPr lang="en-US" sz="1600" b="1" dirty="0">
                <a:solidFill>
                  <a:schemeClr val="bg1"/>
                </a:solidFill>
              </a:rPr>
              <a:t>P. Sudha</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2520030455</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Watchdog Terminal">
  <a:themeElements>
    <a:clrScheme name="Watchdog Terminal">
      <a:dk1>
        <a:srgbClr val="0D1117"/>
      </a:dk1>
      <a:lt1>
        <a:srgbClr val="FFFFFF"/>
      </a:lt1>
      <a:dk2>
        <a:srgbClr val="161B22"/>
      </a:dk2>
      <a:lt2>
        <a:srgbClr val="EEF3EF"/>
      </a:lt2>
      <a:accent1>
        <a:srgbClr val="1A7F37"/>
      </a:accent1>
      <a:accent2>
        <a:srgbClr val="D29922"/>
      </a:accent2>
      <a:accent3>
        <a:srgbClr val="0969DA"/>
      </a:accent3>
      <a:accent4>
        <a:srgbClr val="CF222E"/>
      </a:accent4>
      <a:accent5>
        <a:srgbClr val="57606A"/>
      </a:accent5>
      <a:accent6>
        <a:srgbClr val="3FB950"/>
      </a:accent6>
      <a:hlink>
        <a:srgbClr val="0969DA"/>
      </a:hlink>
      <a:folHlink>
        <a:srgbClr val="57606A"/>
      </a:folHlink>
    </a:clrScheme>
    <a:fontScheme name="Watchdog Termi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Process Watchdog and Auto-Restart System</dc:title>
  <dc:subject>PptxGenJS Presentation</dc:subject>
  <dc:creator>Bhanu Jakka, Akshita Anand, A. Kuvira, P. Sudha</dc:creator>
  <cp:lastModifiedBy>Bhanu Jakka, Akshita Anand, A. Kuvira, P. Sudha</cp:lastModifiedBy>
  <cp:revision>1</cp:revision>
  <dcterms:created xsi:type="dcterms:W3CDTF">2026-10-16T14:11:59Z</dcterms:created>
  <dcterms:modified xsi:type="dcterms:W3CDTF">2026-10-16T14:11:59Z</dcterms:modified>
</cp:coreProperties>
</file>